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1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9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6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6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82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31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3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5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1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6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4" name="Picture 13" descr="A marble with brown and aqua colors">
            <a:extLst>
              <a:ext uri="{FF2B5EF4-FFF2-40B4-BE49-F238E27FC236}">
                <a16:creationId xmlns:a16="http://schemas.microsoft.com/office/drawing/2014/main" id="{7A4A4C44-EF1C-57C4-89F5-C2178C139C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29" r="5109" b="889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5760C-D7EC-41BC-EB21-60DE7BE62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r>
              <a:rPr lang="ro-RO" sz="1900" dirty="0"/>
              <a:t>Lapuste Andrei Raul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0C2DCAA-421D-25B1-B5E0-52530A8C5B8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7713" y="895029"/>
            <a:ext cx="1118628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ro-RO" altLang="ro-RO" sz="36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Generarea automată a unui meniu alimentar optimizat folosind algoritmi genetici</a:t>
            </a:r>
            <a:endParaRPr kumimoji="0" lang="ro-RO" altLang="ro-RO" sz="36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612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B4112-F8B3-F0CF-C40F-F596F19A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INTRODUCERE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54A2C-3C5C-01DF-88B9-018BDCFB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6758"/>
            <a:ext cx="10997848" cy="3767328"/>
          </a:xfrm>
        </p:spPr>
        <p:txBody>
          <a:bodyPr/>
          <a:lstStyle/>
          <a:p>
            <a:r>
              <a:rPr lang="ro-RO" sz="2400" dirty="0"/>
              <a:t>Proiectul prezinta un program pentru generarea portilor unui meniu bazat pe preferintele utilizatorului </a:t>
            </a:r>
          </a:p>
          <a:p>
            <a:r>
              <a:rPr lang="en-US" sz="2400" dirty="0" err="1"/>
              <a:t>Programul</a:t>
            </a:r>
            <a:r>
              <a:rPr lang="en-US" sz="2400" dirty="0"/>
              <a:t> de </a:t>
            </a:r>
            <a:r>
              <a:rPr lang="en-US" sz="2400" dirty="0" err="1"/>
              <a:t>generare</a:t>
            </a:r>
            <a:r>
              <a:rPr lang="en-US" sz="2400" dirty="0"/>
              <a:t> se </a:t>
            </a:r>
            <a:r>
              <a:rPr lang="en-US" sz="2400" dirty="0" err="1"/>
              <a:t>bazeaza</a:t>
            </a:r>
            <a:r>
              <a:rPr lang="en-US" sz="2400" dirty="0"/>
              <a:t> pe </a:t>
            </a:r>
            <a:r>
              <a:rPr lang="en-US" sz="2400" dirty="0" err="1"/>
              <a:t>algoritimi</a:t>
            </a:r>
            <a:r>
              <a:rPr lang="en-US" sz="2400" dirty="0"/>
              <a:t> </a:t>
            </a:r>
            <a:r>
              <a:rPr lang="en-US" sz="2400" dirty="0" err="1"/>
              <a:t>genetici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utilizarea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en-US" sz="2400" dirty="0"/>
              <a:t> mod </a:t>
            </a:r>
            <a:r>
              <a:rPr lang="en-US" sz="2400" dirty="0" err="1"/>
              <a:t>eficient</a:t>
            </a:r>
            <a:r>
              <a:rPr lang="en-US" sz="2400" dirty="0"/>
              <a:t> de </a:t>
            </a:r>
            <a:r>
              <a:rPr lang="en-US" sz="2400" dirty="0" err="1"/>
              <a:t>optiuni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respecta</a:t>
            </a:r>
            <a:r>
              <a:rPr lang="en-US" sz="2400" dirty="0"/>
              <a:t> </a:t>
            </a:r>
            <a:r>
              <a:rPr lang="en-US" sz="2400" dirty="0" err="1"/>
              <a:t>regulile</a:t>
            </a:r>
            <a:r>
              <a:rPr lang="en-US" sz="2400" dirty="0"/>
              <a:t> </a:t>
            </a:r>
            <a:r>
              <a:rPr lang="en-US" sz="2400" dirty="0" err="1"/>
              <a:t>dupa</a:t>
            </a:r>
            <a:r>
              <a:rPr lang="en-US" sz="2400" dirty="0"/>
              <a:t> care </a:t>
            </a:r>
            <a:r>
              <a:rPr lang="en-US" sz="2400" dirty="0" err="1"/>
              <a:t>structura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programata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gaseasca</a:t>
            </a:r>
            <a:r>
              <a:rPr lang="en-US" sz="2400" dirty="0"/>
              <a:t> o </a:t>
            </a:r>
            <a:r>
              <a:rPr lang="en-US" sz="2400" dirty="0" err="1"/>
              <a:t>solutie</a:t>
            </a:r>
            <a:r>
              <a:rPr lang="en-US" sz="2400" dirty="0"/>
              <a:t> cat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adecvata</a:t>
            </a:r>
            <a:endParaRPr lang="en-US" sz="2400" dirty="0"/>
          </a:p>
          <a:p>
            <a:r>
              <a:rPr lang="en-US" sz="2400" dirty="0" err="1"/>
              <a:t>Generarea</a:t>
            </a:r>
            <a:r>
              <a:rPr lang="en-US" sz="2400" dirty="0"/>
              <a:t> </a:t>
            </a:r>
            <a:r>
              <a:rPr lang="en-US" sz="2400" dirty="0" err="1"/>
              <a:t>uneu</a:t>
            </a:r>
            <a:r>
              <a:rPr lang="en-US" sz="2400" dirty="0"/>
              <a:t> GUI Swing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grafice</a:t>
            </a:r>
            <a:r>
              <a:rPr lang="en-US" sz="2400" dirty="0"/>
              <a:t> </a:t>
            </a:r>
            <a:r>
              <a:rPr lang="en-US" sz="2400" dirty="0" err="1"/>
              <a:t>XChart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usurarea</a:t>
            </a:r>
            <a:r>
              <a:rPr lang="en-US" sz="2400" dirty="0"/>
              <a:t> </a:t>
            </a:r>
            <a:r>
              <a:rPr lang="en-US" sz="2400" dirty="0" err="1"/>
              <a:t>utilizarii</a:t>
            </a:r>
            <a:r>
              <a:rPr lang="en-US" sz="2400" dirty="0"/>
              <a:t> </a:t>
            </a:r>
            <a:r>
              <a:rPr lang="en-US" sz="2400" dirty="0" err="1"/>
              <a:t>programului</a:t>
            </a:r>
            <a:endParaRPr lang="en-US" sz="2400" dirty="0"/>
          </a:p>
          <a:p>
            <a:pPr marL="0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43621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937E-50FB-DE02-4FE4-B354960CE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SCOPURI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4ABF-051B-F835-2492-84C77ED70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Calculul</a:t>
            </a:r>
            <a:r>
              <a:rPr lang="en-US" sz="2800" dirty="0"/>
              <a:t> </a:t>
            </a:r>
            <a:r>
              <a:rPr lang="en-US" sz="2800" dirty="0" err="1"/>
              <a:t>portilor</a:t>
            </a:r>
            <a:r>
              <a:rPr lang="en-US" sz="2800" dirty="0"/>
              <a:t> </a:t>
            </a:r>
            <a:r>
              <a:rPr lang="en-US" sz="2800" dirty="0" err="1"/>
              <a:t>preferate</a:t>
            </a:r>
            <a:r>
              <a:rPr lang="en-US" sz="2800" dirty="0"/>
              <a:t> </a:t>
            </a:r>
            <a:r>
              <a:rPr lang="en-US" sz="2800" dirty="0" err="1"/>
              <a:t>te</a:t>
            </a:r>
            <a:r>
              <a:rPr lang="en-US" sz="2800" dirty="0"/>
              <a:t> </a:t>
            </a:r>
            <a:r>
              <a:rPr lang="en-US" sz="2800" dirty="0" err="1"/>
              <a:t>utilizator</a:t>
            </a:r>
            <a:r>
              <a:rPr lang="en-US" sz="2800" dirty="0"/>
              <a:t> in </a:t>
            </a:r>
            <a:r>
              <a:rPr lang="en-US" sz="2800" dirty="0" err="1"/>
              <a:t>grame</a:t>
            </a:r>
            <a:endParaRPr lang="en-US" sz="2800" dirty="0"/>
          </a:p>
          <a:p>
            <a:r>
              <a:rPr lang="en-US" sz="2800" dirty="0" err="1"/>
              <a:t>Nedepasirea</a:t>
            </a:r>
            <a:r>
              <a:rPr lang="en-US" sz="2800" dirty="0"/>
              <a:t> </a:t>
            </a:r>
            <a:r>
              <a:rPr lang="en-US" sz="2800" dirty="0" err="1"/>
              <a:t>bugetului</a:t>
            </a:r>
            <a:endParaRPr lang="en-US" sz="2800" dirty="0"/>
          </a:p>
          <a:p>
            <a:r>
              <a:rPr lang="en-US" sz="2800" dirty="0" err="1"/>
              <a:t>Atingerea</a:t>
            </a:r>
            <a:r>
              <a:rPr lang="en-US" sz="2800" dirty="0"/>
              <a:t> </a:t>
            </a:r>
            <a:r>
              <a:rPr lang="en-US" sz="2800" dirty="0" err="1"/>
              <a:t>targetului</a:t>
            </a:r>
            <a:r>
              <a:rPr lang="en-US" sz="2800" dirty="0"/>
              <a:t> de </a:t>
            </a:r>
            <a:r>
              <a:rPr lang="en-US" sz="2800" dirty="0" err="1"/>
              <a:t>nivel</a:t>
            </a:r>
            <a:r>
              <a:rPr lang="en-US" sz="2800" dirty="0"/>
              <a:t> </a:t>
            </a:r>
            <a:r>
              <a:rPr lang="en-US" sz="2800" dirty="0" err="1"/>
              <a:t>calorit</a:t>
            </a:r>
            <a:r>
              <a:rPr lang="en-US" sz="2800" dirty="0"/>
              <a:t> </a:t>
            </a:r>
            <a:r>
              <a:rPr lang="en-US" sz="2800" dirty="0" err="1"/>
              <a:t>cerut</a:t>
            </a:r>
            <a:r>
              <a:rPr lang="en-US" sz="2800" dirty="0"/>
              <a:t> de </a:t>
            </a:r>
            <a:r>
              <a:rPr lang="en-US" sz="2800" dirty="0" err="1"/>
              <a:t>utilizator</a:t>
            </a:r>
            <a:endParaRPr lang="en-US" sz="2800" dirty="0"/>
          </a:p>
          <a:p>
            <a:r>
              <a:rPr lang="en-US" sz="2800" dirty="0" err="1"/>
              <a:t>Atingerea</a:t>
            </a:r>
            <a:r>
              <a:rPr lang="en-US" sz="2800" dirty="0"/>
              <a:t> </a:t>
            </a:r>
            <a:r>
              <a:rPr lang="en-US" sz="2800" dirty="0" err="1"/>
              <a:t>targetului</a:t>
            </a:r>
            <a:r>
              <a:rPr lang="en-US" sz="2800" dirty="0"/>
              <a:t> </a:t>
            </a:r>
            <a:r>
              <a:rPr lang="en-US" sz="2800" dirty="0" err="1"/>
              <a:t>mineralelor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vitaminelor</a:t>
            </a:r>
            <a:r>
              <a:rPr lang="en-US" sz="2800" dirty="0"/>
              <a:t> </a:t>
            </a:r>
            <a:r>
              <a:rPr lang="en-US" sz="2800" dirty="0" err="1"/>
              <a:t>dorite</a:t>
            </a:r>
            <a:r>
              <a:rPr lang="en-US" sz="2800" dirty="0"/>
              <a:t> de </a:t>
            </a:r>
            <a:r>
              <a:rPr lang="en-US" sz="2800" dirty="0" err="1"/>
              <a:t>utilizator</a:t>
            </a:r>
            <a:endParaRPr lang="ro-RO" sz="2800" dirty="0"/>
          </a:p>
        </p:txBody>
      </p:sp>
    </p:spTree>
    <p:extLst>
      <p:ext uri="{BB962C8B-B14F-4D97-AF65-F5344CB8AC3E}">
        <p14:creationId xmlns:p14="http://schemas.microsoft.com/office/powerpoint/2010/main" val="94148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A40D-4A1A-2090-6DBE-6BBE9965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 SUNT ALGORITMI GENETICI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81B3-3F9C-F9C8-1044-B42D46EBA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582" y="1999186"/>
            <a:ext cx="11155680" cy="3767328"/>
          </a:xfrm>
        </p:spPr>
        <p:txBody>
          <a:bodyPr/>
          <a:lstStyle/>
          <a:p>
            <a:r>
              <a:rPr lang="en-US" sz="2400" dirty="0" err="1"/>
              <a:t>Bazati</a:t>
            </a:r>
            <a:r>
              <a:rPr lang="en-US" sz="2400" dirty="0"/>
              <a:t> pe </a:t>
            </a:r>
            <a:r>
              <a:rPr lang="en-US" sz="2400" dirty="0" err="1"/>
              <a:t>teoria</a:t>
            </a:r>
            <a:r>
              <a:rPr lang="en-US" sz="2400" dirty="0"/>
              <a:t> </a:t>
            </a:r>
            <a:r>
              <a:rPr lang="en-US" sz="2400" dirty="0" err="1"/>
              <a:t>evolutiei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Charles Darwin, </a:t>
            </a:r>
            <a:r>
              <a:rPr lang="en-US" sz="2400" dirty="0" err="1"/>
              <a:t>acestia</a:t>
            </a:r>
            <a:r>
              <a:rPr lang="en-US" sz="2400" dirty="0"/>
              <a:t> au </a:t>
            </a:r>
            <a:r>
              <a:rPr lang="en-US" sz="2400" dirty="0" err="1"/>
              <a:t>fost</a:t>
            </a:r>
            <a:r>
              <a:rPr lang="en-US" sz="2400" dirty="0"/>
              <a:t> </a:t>
            </a:r>
            <a:r>
              <a:rPr lang="en-US" sz="2400" dirty="0" err="1"/>
              <a:t>conceputi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determinarea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en-US" sz="2400" dirty="0"/>
              <a:t> set </a:t>
            </a:r>
            <a:r>
              <a:rPr lang="en-US" sz="2400" dirty="0" err="1"/>
              <a:t>potrivit</a:t>
            </a:r>
            <a:r>
              <a:rPr lang="en-US" sz="2400" dirty="0"/>
              <a:t> de </a:t>
            </a:r>
            <a:r>
              <a:rPr lang="en-US" sz="2400" dirty="0" err="1"/>
              <a:t>solutii</a:t>
            </a:r>
            <a:r>
              <a:rPr lang="en-US" sz="2400" dirty="0"/>
              <a:t> calculate </a:t>
            </a:r>
            <a:r>
              <a:rPr lang="en-US" sz="2400" dirty="0" err="1"/>
              <a:t>intr</a:t>
            </a:r>
            <a:r>
              <a:rPr lang="en-US" sz="2400" dirty="0"/>
              <a:t>-un mod </a:t>
            </a:r>
            <a:r>
              <a:rPr lang="en-US" sz="2400" dirty="0" err="1"/>
              <a:t>inteligent</a:t>
            </a:r>
            <a:endParaRPr lang="en-US" sz="2400" dirty="0"/>
          </a:p>
          <a:p>
            <a:r>
              <a:rPr lang="en-US" sz="2400" dirty="0" err="1"/>
              <a:t>Comparativ</a:t>
            </a:r>
            <a:r>
              <a:rPr lang="en-US" sz="2400" dirty="0"/>
              <a:t> cu </a:t>
            </a:r>
            <a:r>
              <a:rPr lang="en-US" sz="2400" dirty="0" err="1"/>
              <a:t>recursivitatea</a:t>
            </a:r>
            <a:r>
              <a:rPr lang="en-US" sz="2400" dirty="0"/>
              <a:t> care in general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conceputa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treaca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solutile</a:t>
            </a:r>
            <a:r>
              <a:rPr lang="en-US" sz="2400" dirty="0"/>
              <a:t> </a:t>
            </a:r>
            <a:r>
              <a:rPr lang="en-US" sz="2400" dirty="0" err="1"/>
              <a:t>posibile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a </a:t>
            </a:r>
            <a:r>
              <a:rPr lang="en-US" sz="2400" dirty="0" err="1"/>
              <a:t>gasi</a:t>
            </a:r>
            <a:r>
              <a:rPr lang="en-US" sz="2400" dirty="0"/>
              <a:t> </a:t>
            </a:r>
            <a:r>
              <a:rPr lang="en-US" sz="2400" dirty="0" err="1"/>
              <a:t>ceea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buna relative fata de </a:t>
            </a:r>
            <a:r>
              <a:rPr lang="en-US" sz="2400" dirty="0" err="1"/>
              <a:t>celelalte</a:t>
            </a:r>
            <a:r>
              <a:rPr lang="en-US" sz="2400" dirty="0"/>
              <a:t>, </a:t>
            </a:r>
            <a:r>
              <a:rPr lang="en-US" sz="2400" dirty="0" err="1"/>
              <a:t>algoritimi</a:t>
            </a:r>
            <a:r>
              <a:rPr lang="en-US" sz="2400" dirty="0"/>
              <a:t> </a:t>
            </a:r>
            <a:r>
              <a:rPr lang="en-US" sz="2400" dirty="0" err="1"/>
              <a:t>genetici</a:t>
            </a:r>
            <a:r>
              <a:rPr lang="en-US" sz="2400" dirty="0"/>
              <a:t> </a:t>
            </a:r>
            <a:r>
              <a:rPr lang="en-US" sz="2400" dirty="0" err="1"/>
              <a:t>cauta</a:t>
            </a:r>
            <a:r>
              <a:rPr lang="en-US" sz="2400" dirty="0"/>
              <a:t> cel </a:t>
            </a:r>
            <a:r>
              <a:rPr lang="en-US" sz="2400" dirty="0" err="1"/>
              <a:t>mai</a:t>
            </a:r>
            <a:r>
              <a:rPr lang="en-US" sz="2400" dirty="0"/>
              <a:t> bun </a:t>
            </a:r>
            <a:r>
              <a:rPr lang="en-US" sz="2400" dirty="0" err="1"/>
              <a:t>rezultat</a:t>
            </a:r>
            <a:r>
              <a:rPr lang="en-US" sz="2400" dirty="0"/>
              <a:t> pe un </a:t>
            </a:r>
            <a:r>
              <a:rPr lang="en-US" sz="2400" dirty="0" err="1"/>
              <a:t>numar</a:t>
            </a:r>
            <a:r>
              <a:rPr lang="en-US" sz="2400" dirty="0"/>
              <a:t> </a:t>
            </a:r>
            <a:r>
              <a:rPr lang="en-US" sz="2400" dirty="0" err="1"/>
              <a:t>finit</a:t>
            </a:r>
            <a:r>
              <a:rPr lang="en-US" sz="2400" dirty="0"/>
              <a:t> de </a:t>
            </a:r>
            <a:r>
              <a:rPr lang="en-US" sz="2400" dirty="0" err="1"/>
              <a:t>pasi</a:t>
            </a:r>
            <a:r>
              <a:rPr lang="en-US" sz="2400" dirty="0"/>
              <a:t> </a:t>
            </a:r>
            <a:r>
              <a:rPr lang="en-US" sz="2400" dirty="0" err="1"/>
              <a:t>impusi</a:t>
            </a:r>
            <a:r>
              <a:rPr lang="en-US" sz="2400" dirty="0"/>
              <a:t> la </a:t>
            </a:r>
            <a:r>
              <a:rPr lang="en-US" sz="2400" dirty="0" err="1"/>
              <a:t>alegere</a:t>
            </a:r>
            <a:r>
              <a:rPr lang="en-US" sz="2400" dirty="0"/>
              <a:t>, </a:t>
            </a:r>
            <a:r>
              <a:rPr lang="en-US" sz="2400" dirty="0" err="1"/>
              <a:t>incepand</a:t>
            </a:r>
            <a:r>
              <a:rPr lang="en-US" sz="2400" dirty="0"/>
              <a:t> de la </a:t>
            </a:r>
            <a:r>
              <a:rPr lang="en-US" sz="2400" dirty="0" err="1"/>
              <a:t>solutii</a:t>
            </a:r>
            <a:r>
              <a:rPr lang="en-US" sz="2400" dirty="0"/>
              <a:t> </a:t>
            </a:r>
            <a:r>
              <a:rPr lang="en-US" sz="2400" dirty="0" err="1"/>
              <a:t>stocastice</a:t>
            </a:r>
            <a:r>
              <a:rPr lang="en-US" sz="2400" dirty="0"/>
              <a:t> </a:t>
            </a:r>
            <a:r>
              <a:rPr lang="en-US" sz="2400" dirty="0" err="1"/>
              <a:t>neregulate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evoluate</a:t>
            </a:r>
            <a:r>
              <a:rPr lang="en-US" sz="2400" dirty="0"/>
              <a:t> anterior, </a:t>
            </a:r>
            <a:r>
              <a:rPr lang="en-US" sz="2400" dirty="0" err="1"/>
              <a:t>favorabil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numar</a:t>
            </a:r>
            <a:r>
              <a:rPr lang="en-US" sz="2400" dirty="0"/>
              <a:t> </a:t>
            </a:r>
            <a:r>
              <a:rPr lang="en-US" sz="2400" dirty="0" err="1"/>
              <a:t>urias</a:t>
            </a:r>
            <a:r>
              <a:rPr lang="en-US" sz="2400" dirty="0"/>
              <a:t> de </a:t>
            </a:r>
            <a:r>
              <a:rPr lang="en-US" sz="2400" dirty="0" err="1"/>
              <a:t>posibilitati</a:t>
            </a:r>
            <a:endParaRPr lang="en-US" sz="2400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1265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6800-A46F-FBF0-6BB6-CEA5B7033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ALEMENTE DE BAZA ALE A.G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6730-4C7A-AC86-35BA-7555E052C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Cromozom</a:t>
            </a:r>
            <a:r>
              <a:rPr lang="en-US" dirty="0"/>
              <a:t> – </a:t>
            </a:r>
            <a:r>
              <a:rPr lang="en-US" dirty="0" err="1"/>
              <a:t>ansamblu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numite</a:t>
            </a:r>
            <a:r>
              <a:rPr lang="en-US" dirty="0"/>
              <a:t> gene care </a:t>
            </a:r>
            <a:r>
              <a:rPr lang="en-US" dirty="0" err="1"/>
              <a:t>impreuna</a:t>
            </a:r>
            <a:r>
              <a:rPr lang="en-US" dirty="0"/>
              <a:t> </a:t>
            </a:r>
            <a:r>
              <a:rPr lang="en-US" dirty="0" err="1"/>
              <a:t>genereaza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solutiei</a:t>
            </a:r>
            <a:r>
              <a:rPr lang="en-US" dirty="0"/>
              <a:t> finale </a:t>
            </a:r>
            <a:r>
              <a:rPr lang="en-US" dirty="0" err="1"/>
              <a:t>optinute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dirty="0" err="1"/>
              <a:t>proces</a:t>
            </a:r>
            <a:r>
              <a:rPr lang="en-US" dirty="0"/>
              <a:t> de mapping</a:t>
            </a:r>
          </a:p>
          <a:p>
            <a:r>
              <a:rPr lang="en-US" dirty="0"/>
              <a:t>Gena –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caracteristica</a:t>
            </a:r>
            <a:r>
              <a:rPr lang="en-US" dirty="0"/>
              <a:t> a </a:t>
            </a:r>
            <a:r>
              <a:rPr lang="en-US" dirty="0" err="1"/>
              <a:t>indivitului</a:t>
            </a:r>
            <a:endParaRPr lang="en-US" dirty="0"/>
          </a:p>
          <a:p>
            <a:r>
              <a:rPr lang="en-US" dirty="0"/>
              <a:t>Alela –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genei</a:t>
            </a:r>
            <a:endParaRPr lang="en-US" dirty="0"/>
          </a:p>
          <a:p>
            <a:r>
              <a:rPr lang="en-US" dirty="0" err="1"/>
              <a:t>Genotip</a:t>
            </a:r>
            <a:r>
              <a:rPr lang="en-US" dirty="0"/>
              <a:t> – </a:t>
            </a:r>
            <a:r>
              <a:rPr lang="en-US" dirty="0" err="1"/>
              <a:t>multimea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alelelor</a:t>
            </a:r>
            <a:r>
              <a:rPr lang="en-US" dirty="0"/>
              <a:t> </a:t>
            </a:r>
            <a:r>
              <a:rPr lang="en-US" dirty="0" err="1"/>
              <a:t>posibile</a:t>
            </a:r>
            <a:endParaRPr lang="en-US" dirty="0"/>
          </a:p>
          <a:p>
            <a:r>
              <a:rPr lang="en-US" dirty="0" err="1"/>
              <a:t>Fenotip</a:t>
            </a:r>
            <a:r>
              <a:rPr lang="en-US" dirty="0"/>
              <a:t>  - </a:t>
            </a:r>
            <a:r>
              <a:rPr lang="en-US" dirty="0" err="1"/>
              <a:t>solutia</a:t>
            </a:r>
            <a:r>
              <a:rPr lang="en-US" dirty="0"/>
              <a:t> </a:t>
            </a:r>
            <a:r>
              <a:rPr lang="en-US" dirty="0" err="1"/>
              <a:t>provenita</a:t>
            </a:r>
            <a:r>
              <a:rPr lang="en-US" dirty="0"/>
              <a:t> din </a:t>
            </a:r>
            <a:r>
              <a:rPr lang="en-US" dirty="0" err="1"/>
              <a:t>cromozom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de mapping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18680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F4239-098B-52FE-1C14-67989247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 ALIMENTARE DE BAZA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B02F1-A07B-312D-5B75-3D3846E2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7293"/>
            <a:ext cx="11155680" cy="3767328"/>
          </a:xfrm>
        </p:spPr>
        <p:txBody>
          <a:bodyPr/>
          <a:lstStyle/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codarea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principilor</a:t>
            </a:r>
            <a:r>
              <a:rPr lang="en-US" dirty="0"/>
              <a:t> </a:t>
            </a:r>
            <a:r>
              <a:rPr lang="en-US" dirty="0" err="1"/>
              <a:t>prezentate</a:t>
            </a:r>
            <a:r>
              <a:rPr lang="en-US" dirty="0"/>
              <a:t>, s-au ales 34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alimentare</a:t>
            </a:r>
            <a:r>
              <a:rPr lang="en-US" dirty="0"/>
              <a:t> diverse </a:t>
            </a:r>
            <a:r>
              <a:rPr lang="en-US" dirty="0" err="1"/>
              <a:t>structurare</a:t>
            </a:r>
            <a:r>
              <a:rPr lang="en-US" dirty="0"/>
              <a:t> sub forma de </a:t>
            </a:r>
            <a:r>
              <a:rPr lang="en-US" dirty="0" err="1"/>
              <a:t>obiecte</a:t>
            </a:r>
            <a:r>
              <a:rPr lang="en-US" dirty="0"/>
              <a:t> JSON </a:t>
            </a:r>
            <a:r>
              <a:rPr lang="en-US" dirty="0" err="1"/>
              <a:t>dupa</a:t>
            </a:r>
            <a:r>
              <a:rPr lang="en-US" dirty="0"/>
              <a:t> forma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ro-RO" dirty="0"/>
              <a:t>“</a:t>
            </a:r>
            <a:r>
              <a:rPr lang="en-US" dirty="0" err="1"/>
              <a:t>denumire_produs</a:t>
            </a:r>
            <a:r>
              <a:rPr lang="ro-RO" dirty="0"/>
              <a:t>": {</a:t>
            </a:r>
            <a:br>
              <a:rPr lang="ro-RO" dirty="0"/>
            </a:br>
            <a:r>
              <a:rPr lang="ro-RO" dirty="0"/>
              <a:t>  </a:t>
            </a:r>
            <a:r>
              <a:rPr lang="en-US" dirty="0"/>
              <a:t>					</a:t>
            </a:r>
            <a:r>
              <a:rPr lang="ro-RO" dirty="0"/>
              <a:t>"cal": 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calorii</a:t>
            </a:r>
            <a:r>
              <a:rPr lang="en-US" dirty="0"/>
              <a:t> pe 100g</a:t>
            </a:r>
            <a:r>
              <a:rPr lang="ro-RO" dirty="0"/>
              <a:t>,</a:t>
            </a:r>
            <a:br>
              <a:rPr lang="ro-RO" dirty="0"/>
            </a:br>
            <a:r>
              <a:rPr lang="ro-RO" dirty="0"/>
              <a:t>  </a:t>
            </a:r>
            <a:r>
              <a:rPr lang="en-US" dirty="0"/>
              <a:t>					</a:t>
            </a:r>
            <a:r>
              <a:rPr lang="ro-RO" dirty="0"/>
              <a:t>"pret": </a:t>
            </a:r>
            <a:r>
              <a:rPr lang="en-US" dirty="0" err="1"/>
              <a:t>pretul</a:t>
            </a:r>
            <a:r>
              <a:rPr lang="en-US" dirty="0"/>
              <a:t> pe 100g</a:t>
            </a:r>
            <a:r>
              <a:rPr lang="ro-RO" dirty="0"/>
              <a:t>,</a:t>
            </a:r>
            <a:br>
              <a:rPr lang="ro-RO" dirty="0"/>
            </a:br>
            <a:r>
              <a:rPr lang="ro-RO" dirty="0"/>
              <a:t>  </a:t>
            </a:r>
            <a:r>
              <a:rPr lang="en-US" dirty="0"/>
              <a:t>					</a:t>
            </a:r>
            <a:r>
              <a:rPr lang="ro-RO" dirty="0"/>
              <a:t>"minerals": { "Ca", "Mg", "K", "Fe", "Zn" },</a:t>
            </a:r>
            <a:r>
              <a:rPr lang="en-US" dirty="0"/>
              <a:t> // cu </a:t>
            </a:r>
            <a:r>
              <a:rPr lang="en-US" dirty="0" err="1"/>
              <a:t>valori</a:t>
            </a:r>
            <a:r>
              <a:rPr lang="en-US" dirty="0"/>
              <a:t> in mg/100g</a:t>
            </a:r>
            <a:br>
              <a:rPr lang="ro-RO" dirty="0"/>
            </a:br>
            <a:r>
              <a:rPr lang="ro-RO" dirty="0"/>
              <a:t> </a:t>
            </a:r>
            <a:r>
              <a:rPr lang="en-US" dirty="0"/>
              <a:t>					</a:t>
            </a:r>
            <a:r>
              <a:rPr lang="ro-RO" dirty="0"/>
              <a:t> "vitamins": { "A", "B1", "B2", "B6",  "C" }</a:t>
            </a:r>
            <a:r>
              <a:rPr lang="en-US" dirty="0"/>
              <a:t> // cu </a:t>
            </a:r>
            <a:r>
              <a:rPr lang="en-US" dirty="0" err="1"/>
              <a:t>valori</a:t>
            </a:r>
            <a:r>
              <a:rPr lang="en-US" dirty="0"/>
              <a:t> in mg/100g</a:t>
            </a:r>
            <a:br>
              <a:rPr lang="ro-RO" dirty="0"/>
            </a:br>
            <a:r>
              <a:rPr lang="en-US" dirty="0"/>
              <a:t>					</a:t>
            </a:r>
            <a:r>
              <a:rPr lang="ro-RO" dirty="0"/>
              <a:t>},</a:t>
            </a:r>
          </a:p>
          <a:p>
            <a:r>
              <a:rPr lang="ro-RO" dirty="0"/>
              <a:t>Prin normalizarea valorilor raportate la 100</a:t>
            </a:r>
            <a:r>
              <a:rPr lang="en-US" dirty="0"/>
              <a:t>g</a:t>
            </a:r>
            <a:r>
              <a:rPr lang="ro-RO" dirty="0"/>
              <a:t>, aplica</a:t>
            </a:r>
            <a:r>
              <a:rPr lang="en-US" dirty="0"/>
              <a:t>t</a:t>
            </a:r>
            <a:r>
              <a:rPr lang="ro-RO" dirty="0"/>
              <a:t>ia beneficiaz</a:t>
            </a:r>
            <a:r>
              <a:rPr lang="en-US" dirty="0"/>
              <a:t>a</a:t>
            </a:r>
            <a:r>
              <a:rPr lang="ro-RO" dirty="0"/>
              <a:t> de o simplificare semnificativ</a:t>
            </a:r>
            <a:r>
              <a:rPr lang="en-US" dirty="0"/>
              <a:t>a</a:t>
            </a:r>
            <a:r>
              <a:rPr lang="ro-RO" dirty="0"/>
              <a:t> a calculelor necesare procesului de optimizare.</a:t>
            </a:r>
            <a:r>
              <a:rPr lang="en-US" dirty="0"/>
              <a:t>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2301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AA908-4F07-5783-CD0D-4A198A9C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STABILIREA GENOTIPULUI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94C1-80CF-0FBE-4F76-A9AE05FE6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00010"/>
            <a:ext cx="1115568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ro-RO" dirty="0"/>
              <a:t>Prin normalizarea valorilor la 100 g, aplica</a:t>
            </a:r>
            <a:r>
              <a:rPr lang="en-US" dirty="0"/>
              <a:t>t</a:t>
            </a:r>
            <a:r>
              <a:rPr lang="ro-RO" dirty="0"/>
              <a:t>ia reduce semnificativ complexitatea procesului de c</a:t>
            </a:r>
            <a:r>
              <a:rPr lang="en-US" dirty="0"/>
              <a:t>a</a:t>
            </a:r>
            <a:r>
              <a:rPr lang="ro-RO" dirty="0"/>
              <a:t>utare </a:t>
            </a:r>
            <a:r>
              <a:rPr lang="en-US" dirty="0"/>
              <a:t>s</a:t>
            </a:r>
            <a:r>
              <a:rPr lang="ro-RO" dirty="0"/>
              <a:t>i manipulare a datelor nutri</a:t>
            </a:r>
            <a:r>
              <a:rPr lang="en-US" dirty="0"/>
              <a:t>t</a:t>
            </a:r>
            <a:r>
              <a:rPr lang="ro-RO" dirty="0"/>
              <a:t>ionale.</a:t>
            </a:r>
            <a:endParaRPr lang="en-US" dirty="0"/>
          </a:p>
          <a:p>
            <a:r>
              <a:rPr lang="ro-RO" dirty="0"/>
              <a:t>Genotipul este definit ca un set de valori reale </a:t>
            </a:r>
            <a:r>
              <a:rPr lang="en-US" dirty="0" err="1"/>
              <a:t>i</a:t>
            </a:r>
            <a:r>
              <a:rPr lang="ro-RO" dirty="0"/>
              <a:t>n intervalul [0, 15], fiecare valoare reprezentând un factor numeric de amplificare aplicat normei standard de 100 g.</a:t>
            </a:r>
            <a:endParaRPr lang="en-US" dirty="0"/>
          </a:p>
          <a:p>
            <a:r>
              <a:rPr lang="ro-RO" dirty="0"/>
              <a:t>Aceast</a:t>
            </a:r>
            <a:r>
              <a:rPr lang="en-US" dirty="0"/>
              <a:t>a</a:t>
            </a:r>
            <a:r>
              <a:rPr lang="ro-RO" dirty="0"/>
              <a:t> abordare simplific</a:t>
            </a:r>
            <a:r>
              <a:rPr lang="en-US" dirty="0"/>
              <a:t>a</a:t>
            </a:r>
            <a:r>
              <a:rPr lang="ro-RO" dirty="0"/>
              <a:t> calculul aportului caloric, al costului por</a:t>
            </a:r>
            <a:r>
              <a:rPr lang="en-US" dirty="0"/>
              <a:t>t</a:t>
            </a:r>
            <a:r>
              <a:rPr lang="ro-RO" dirty="0"/>
              <a:t>iei, precum </a:t>
            </a:r>
            <a:r>
              <a:rPr lang="en-US" dirty="0"/>
              <a:t>s</a:t>
            </a:r>
            <a:r>
              <a:rPr lang="ro-RO" dirty="0"/>
              <a:t>i al cantit</a:t>
            </a:r>
            <a:r>
              <a:rPr lang="en-US" dirty="0"/>
              <a:t>at</a:t>
            </a:r>
            <a:r>
              <a:rPr lang="ro-RO" dirty="0"/>
              <a:t>ilor de minerale </a:t>
            </a:r>
            <a:r>
              <a:rPr lang="en-US" dirty="0"/>
              <a:t>s</a:t>
            </a:r>
            <a:r>
              <a:rPr lang="ro-RO" dirty="0"/>
              <a:t>i vitamine asociate fiecărui aliment.</a:t>
            </a:r>
          </a:p>
        </p:txBody>
      </p:sp>
    </p:spTree>
    <p:extLst>
      <p:ext uri="{BB962C8B-B14F-4D97-AF65-F5344CB8AC3E}">
        <p14:creationId xmlns:p14="http://schemas.microsoft.com/office/powerpoint/2010/main" val="347930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DAB5-E680-3D59-3C44-49437C53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STABILIREA CROMOZOMULUI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3DC68-80AC-DE17-A5DA-CA5963562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stabileste</a:t>
            </a:r>
            <a:r>
              <a:rPr lang="en-US" dirty="0"/>
              <a:t> </a:t>
            </a:r>
            <a:r>
              <a:rPr lang="en-US" dirty="0" err="1"/>
              <a:t>dimensiunea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numarul</a:t>
            </a:r>
            <a:r>
              <a:rPr lang="en-US" dirty="0"/>
              <a:t> total de </a:t>
            </a:r>
            <a:r>
              <a:rPr lang="en-US" dirty="0" err="1"/>
              <a:t>alimente</a:t>
            </a:r>
            <a:r>
              <a:rPr lang="en-US" dirty="0"/>
              <a:t> </a:t>
            </a:r>
            <a:r>
              <a:rPr lang="en-US" dirty="0" err="1"/>
              <a:t>stocate</a:t>
            </a:r>
            <a:r>
              <a:rPr lang="en-US" dirty="0"/>
              <a:t>,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 34</a:t>
            </a:r>
          </a:p>
          <a:p>
            <a:r>
              <a:rPr lang="en-US" dirty="0"/>
              <a:t>La </a:t>
            </a:r>
            <a:r>
              <a:rPr lang="en-US" dirty="0" err="1"/>
              <a:t>pornirea</a:t>
            </a:r>
            <a:r>
              <a:rPr lang="en-US" dirty="0"/>
              <a:t> </a:t>
            </a:r>
            <a:r>
              <a:rPr lang="en-US" dirty="0" err="1"/>
              <a:t>programului</a:t>
            </a:r>
            <a:r>
              <a:rPr lang="en-US" dirty="0"/>
              <a:t>,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statica</a:t>
            </a:r>
            <a:r>
              <a:rPr lang="en-US" dirty="0"/>
              <a:t> </a:t>
            </a:r>
            <a:r>
              <a:rPr lang="en-US" dirty="0" err="1"/>
              <a:t>JsonTree</a:t>
            </a:r>
            <a:r>
              <a:rPr lang="en-US" dirty="0"/>
              <a:t> </a:t>
            </a:r>
            <a:r>
              <a:rPr lang="en-US" dirty="0" err="1"/>
              <a:t>deschide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itereaza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alimentele</a:t>
            </a:r>
            <a:r>
              <a:rPr lang="en-US" dirty="0"/>
              <a:t> </a:t>
            </a:r>
            <a:r>
              <a:rPr lang="en-US" dirty="0" err="1"/>
              <a:t>fisierului</a:t>
            </a:r>
            <a:r>
              <a:rPr lang="en-US" dirty="0"/>
              <a:t>, </a:t>
            </a:r>
            <a:r>
              <a:rPr lang="en-US" dirty="0" err="1"/>
              <a:t>determinand</a:t>
            </a:r>
            <a:r>
              <a:rPr lang="en-US" dirty="0"/>
              <a:t> </a:t>
            </a:r>
            <a:r>
              <a:rPr lang="en-US" dirty="0" err="1"/>
              <a:t>dimensiunea</a:t>
            </a:r>
            <a:r>
              <a:rPr lang="en-US" dirty="0"/>
              <a:t> </a:t>
            </a:r>
            <a:r>
              <a:rPr lang="en-US" dirty="0" err="1"/>
              <a:t>cromozomului</a:t>
            </a:r>
            <a:r>
              <a:rPr lang="en-US" dirty="0"/>
              <a:t>/ </a:t>
            </a:r>
            <a:r>
              <a:rPr lang="en-US" dirty="0" err="1"/>
              <a:t>numarul</a:t>
            </a:r>
            <a:r>
              <a:rPr lang="en-US" dirty="0"/>
              <a:t> de gene </a:t>
            </a:r>
            <a:r>
              <a:rPr lang="en-US" dirty="0" err="1"/>
              <a:t>necesare</a:t>
            </a:r>
            <a:endParaRPr lang="en-US" dirty="0"/>
          </a:p>
          <a:p>
            <a:r>
              <a:rPr lang="en-US" dirty="0" err="1"/>
              <a:t>Stabilirea</a:t>
            </a:r>
            <a:r>
              <a:rPr lang="en-US" dirty="0"/>
              <a:t> </a:t>
            </a:r>
            <a:r>
              <a:rPr lang="en-US" dirty="0" err="1"/>
              <a:t>cromozomului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genotipului</a:t>
            </a:r>
            <a:r>
              <a:rPr lang="en-US" dirty="0"/>
              <a:t> sunt </a:t>
            </a:r>
            <a:r>
              <a:rPr lang="en-US" dirty="0" err="1"/>
              <a:t>urmate</a:t>
            </a:r>
            <a:r>
              <a:rPr lang="en-US" dirty="0"/>
              <a:t> de </a:t>
            </a: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populatii</a:t>
            </a:r>
            <a:r>
              <a:rPr lang="en-US" dirty="0"/>
              <a:t> de </a:t>
            </a:r>
            <a:r>
              <a:rPr lang="en-US" dirty="0" err="1"/>
              <a:t>indivizi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cu </a:t>
            </a:r>
            <a:r>
              <a:rPr lang="en-US" dirty="0" err="1"/>
              <a:t>propriul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cromozom</a:t>
            </a:r>
            <a:r>
              <a:rPr lang="en-US" dirty="0"/>
              <a:t> din </a:t>
            </a:r>
            <a:r>
              <a:rPr lang="en-US" dirty="0" err="1"/>
              <a:t>valori</a:t>
            </a:r>
            <a:r>
              <a:rPr lang="en-US" dirty="0"/>
              <a:t>/</a:t>
            </a:r>
            <a:r>
              <a:rPr lang="en-US" dirty="0" err="1"/>
              <a:t>alele</a:t>
            </a:r>
            <a:r>
              <a:rPr lang="en-US" dirty="0"/>
              <a:t> </a:t>
            </a:r>
            <a:r>
              <a:rPr lang="en-US" dirty="0" err="1"/>
              <a:t>stocastice</a:t>
            </a:r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alimentelor</a:t>
            </a:r>
            <a:r>
              <a:rPr lang="en-US" dirty="0"/>
              <a:t> </a:t>
            </a:r>
            <a:r>
              <a:rPr lang="en-US" dirty="0" err="1"/>
              <a:t>dorite</a:t>
            </a:r>
            <a:r>
              <a:rPr lang="en-US" dirty="0"/>
              <a:t>, </a:t>
            </a:r>
            <a:r>
              <a:rPr lang="en-US" dirty="0" err="1"/>
              <a:t>preferintele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 sunt </a:t>
            </a:r>
            <a:r>
              <a:rPr lang="en-US" dirty="0" err="1"/>
              <a:t>salvate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 de mapping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acestea</a:t>
            </a:r>
            <a:r>
              <a:rPr lang="en-US" dirty="0"/>
              <a:t> sunt </a:t>
            </a:r>
            <a:r>
              <a:rPr lang="en-US" dirty="0" err="1"/>
              <a:t>luate</a:t>
            </a:r>
            <a:r>
              <a:rPr lang="en-US" dirty="0"/>
              <a:t> in </a:t>
            </a:r>
            <a:r>
              <a:rPr lang="en-US" dirty="0" err="1"/>
              <a:t>considerare</a:t>
            </a:r>
            <a:r>
              <a:rPr lang="en-US" dirty="0"/>
              <a:t>, in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celelalte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alese</a:t>
            </a:r>
            <a:r>
              <a:rPr lang="en-US" dirty="0"/>
              <a:t> de </a:t>
            </a:r>
            <a:r>
              <a:rPr lang="en-US" dirty="0" err="1"/>
              <a:t>algoritm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randomnizate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devenind</a:t>
            </a:r>
            <a:r>
              <a:rPr lang="en-US" dirty="0"/>
              <a:t> </a:t>
            </a:r>
            <a:r>
              <a:rPr lang="en-US" dirty="0" err="1"/>
              <a:t>nesemnificative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64923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1C48-C037-37D5-61E0-C5E6B4024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REGULUI DE CAUTARE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5569E-8627-E888-6BF8-C4B2B8EEE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Algoritmul</a:t>
            </a:r>
            <a:r>
              <a:rPr lang="en-US" dirty="0"/>
              <a:t> genetic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utilizeze</a:t>
            </a:r>
            <a:r>
              <a:rPr lang="en-US" dirty="0"/>
              <a:t> o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propriu</a:t>
            </a:r>
            <a:r>
              <a:rPr lang="en-US" dirty="0"/>
              <a:t> </a:t>
            </a:r>
            <a:r>
              <a:rPr lang="en-US" dirty="0" err="1"/>
              <a:t>construita</a:t>
            </a:r>
            <a:r>
              <a:rPr lang="en-US" dirty="0"/>
              <a:t> care </a:t>
            </a:r>
            <a:r>
              <a:rPr lang="en-US" dirty="0" err="1"/>
              <a:t>mosteneste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‘</a:t>
            </a:r>
            <a:r>
              <a:rPr lang="en-US" dirty="0" err="1"/>
              <a:t>FitnessFunction</a:t>
            </a:r>
            <a:r>
              <a:rPr lang="en-US" dirty="0"/>
              <a:t>’ care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suprascrierea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 ‘evaluate’ </a:t>
            </a:r>
          </a:p>
          <a:p>
            <a:r>
              <a:rPr lang="en-US" dirty="0" err="1"/>
              <a:t>Functia</a:t>
            </a:r>
            <a:r>
              <a:rPr lang="en-US" dirty="0"/>
              <a:t> ‘evaluate’ </a:t>
            </a:r>
            <a:r>
              <a:rPr lang="en-US" dirty="0" err="1"/>
              <a:t>returneaza</a:t>
            </a:r>
            <a:r>
              <a:rPr lang="en-US" dirty="0"/>
              <a:t> o </a:t>
            </a:r>
            <a:r>
              <a:rPr lang="en-US" dirty="0" err="1"/>
              <a:t>valoare</a:t>
            </a:r>
            <a:r>
              <a:rPr lang="en-US" dirty="0"/>
              <a:t> de tip double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echivaleaza</a:t>
            </a:r>
            <a:r>
              <a:rPr lang="en-US" dirty="0"/>
              <a:t> </a:t>
            </a:r>
            <a:r>
              <a:rPr lang="en-US" dirty="0" err="1"/>
              <a:t>diferenta</a:t>
            </a:r>
            <a:r>
              <a:rPr lang="en-US" dirty="0"/>
              <a:t>/</a:t>
            </a:r>
            <a:r>
              <a:rPr lang="en-US" dirty="0" err="1"/>
              <a:t>eroarea</a:t>
            </a:r>
            <a:r>
              <a:rPr lang="en-US" dirty="0"/>
              <a:t> </a:t>
            </a:r>
            <a:r>
              <a:rPr lang="en-US" dirty="0" err="1"/>
              <a:t>provenita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mapparea</a:t>
            </a:r>
            <a:r>
              <a:rPr lang="en-US" dirty="0"/>
              <a:t> </a:t>
            </a:r>
            <a:r>
              <a:rPr lang="en-US" dirty="0" err="1"/>
              <a:t>cromozomului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optinerea</a:t>
            </a:r>
            <a:r>
              <a:rPr lang="en-US" dirty="0"/>
              <a:t> </a:t>
            </a:r>
            <a:r>
              <a:rPr lang="en-US" dirty="0" err="1"/>
              <a:t>actualului</a:t>
            </a:r>
            <a:r>
              <a:rPr lang="en-US" dirty="0"/>
              <a:t> </a:t>
            </a:r>
            <a:r>
              <a:rPr lang="en-US" dirty="0" err="1"/>
              <a:t>fenotip</a:t>
            </a:r>
            <a:r>
              <a:rPr lang="en-US" dirty="0"/>
              <a:t> </a:t>
            </a:r>
            <a:r>
              <a:rPr lang="en-US" dirty="0" err="1"/>
              <a:t>trecand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setul</a:t>
            </a:r>
            <a:r>
              <a:rPr lang="en-US" dirty="0"/>
              <a:t> de reguli </a:t>
            </a:r>
            <a:r>
              <a:rPr lang="en-US" dirty="0" err="1"/>
              <a:t>stabilit</a:t>
            </a:r>
            <a:endParaRPr lang="en-US" dirty="0"/>
          </a:p>
          <a:p>
            <a:r>
              <a:rPr lang="en-US" dirty="0"/>
              <a:t>Am </a:t>
            </a:r>
            <a:r>
              <a:rPr lang="en-US" dirty="0" err="1"/>
              <a:t>definit</a:t>
            </a:r>
            <a:r>
              <a:rPr lang="en-US" dirty="0"/>
              <a:t> </a:t>
            </a:r>
            <a:r>
              <a:rPr lang="en-US" dirty="0" err="1"/>
              <a:t>cinci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reguli </a:t>
            </a:r>
            <a:r>
              <a:rPr lang="en-US" dirty="0" err="1"/>
              <a:t>pentru</a:t>
            </a:r>
            <a:r>
              <a:rPr lang="en-US" dirty="0"/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Minimizarea</a:t>
            </a:r>
            <a:r>
              <a:rPr lang="en-US" dirty="0"/>
              <a:t> </a:t>
            </a:r>
            <a:r>
              <a:rPr lang="en-US" dirty="0" err="1"/>
              <a:t>costurilor</a:t>
            </a:r>
            <a:r>
              <a:rPr lang="en-US" dirty="0"/>
              <a:t>  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Atingerea</a:t>
            </a:r>
            <a:r>
              <a:rPr lang="en-US" dirty="0"/>
              <a:t> </a:t>
            </a:r>
            <a:r>
              <a:rPr lang="en-US" dirty="0" err="1"/>
              <a:t>targetului</a:t>
            </a:r>
            <a:r>
              <a:rPr lang="en-US" dirty="0"/>
              <a:t> </a:t>
            </a:r>
            <a:r>
              <a:rPr lang="en-US" dirty="0" err="1"/>
              <a:t>calorit</a:t>
            </a:r>
            <a:r>
              <a:rPr lang="en-US" dirty="0"/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Favorizarea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echilibru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diferenta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caloriile</a:t>
            </a:r>
            <a:r>
              <a:rPr lang="en-US" dirty="0"/>
              <a:t> </a:t>
            </a:r>
            <a:r>
              <a:rPr lang="en-US" dirty="0" err="1"/>
              <a:t>portilor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Favorizarea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echilibru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gramajele</a:t>
            </a:r>
            <a:r>
              <a:rPr lang="en-US" dirty="0"/>
              <a:t> </a:t>
            </a:r>
            <a:r>
              <a:rPr lang="en-US" dirty="0" err="1"/>
              <a:t>alimentelor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Atingerea</a:t>
            </a:r>
            <a:r>
              <a:rPr lang="en-US" dirty="0"/>
              <a:t> </a:t>
            </a:r>
            <a:r>
              <a:rPr lang="en-US" dirty="0" err="1"/>
              <a:t>nimelului</a:t>
            </a:r>
            <a:r>
              <a:rPr lang="en-US" dirty="0"/>
              <a:t> de </a:t>
            </a:r>
            <a:r>
              <a:rPr lang="en-US" dirty="0" err="1"/>
              <a:t>minerale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vitamine</a:t>
            </a:r>
            <a:r>
              <a:rPr lang="en-US" dirty="0"/>
              <a:t> </a:t>
            </a:r>
            <a:r>
              <a:rPr lang="en-US" dirty="0" err="1"/>
              <a:t>dorit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75841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C948B-2573-F4A7-F5F5-191B8CC14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941559"/>
            <a:ext cx="11155680" cy="581232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Regula </a:t>
            </a:r>
            <a:r>
              <a:rPr lang="en-US" dirty="0" err="1"/>
              <a:t>minimizarii</a:t>
            </a:r>
            <a:r>
              <a:rPr lang="en-US" dirty="0"/>
              <a:t> </a:t>
            </a:r>
            <a:r>
              <a:rPr lang="en-US" dirty="0" err="1"/>
              <a:t>costului</a:t>
            </a:r>
            <a:r>
              <a:rPr lang="en-US" dirty="0"/>
              <a:t> : </a:t>
            </a:r>
            <a:r>
              <a:rPr lang="en-US" dirty="0" err="1"/>
              <a:t>urmareste</a:t>
            </a:r>
            <a:r>
              <a:rPr lang="en-US" dirty="0"/>
              <a:t> </a:t>
            </a:r>
            <a:r>
              <a:rPr lang="en-US" dirty="0" err="1"/>
              <a:t>casirea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pret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mic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atingerea</a:t>
            </a:r>
            <a:r>
              <a:rPr lang="en-US" dirty="0"/>
              <a:t> </a:t>
            </a:r>
            <a:r>
              <a:rPr lang="en-US" dirty="0" err="1"/>
              <a:t>nivelului</a:t>
            </a:r>
            <a:r>
              <a:rPr lang="en-US" dirty="0"/>
              <a:t> caloric, </a:t>
            </a:r>
            <a:r>
              <a:rPr lang="en-US" dirty="0" err="1"/>
              <a:t>totodata</a:t>
            </a:r>
            <a:r>
              <a:rPr lang="en-US" dirty="0"/>
              <a:t> </a:t>
            </a:r>
            <a:r>
              <a:rPr lang="en-US" dirty="0" err="1"/>
              <a:t>insotita</a:t>
            </a:r>
            <a:r>
              <a:rPr lang="en-US" dirty="0"/>
              <a:t> de un </a:t>
            </a:r>
            <a:r>
              <a:rPr lang="en-US" dirty="0" err="1"/>
              <a:t>parametru</a:t>
            </a:r>
            <a:r>
              <a:rPr lang="en-US" dirty="0"/>
              <a:t> </a:t>
            </a:r>
            <a:r>
              <a:rPr lang="en-US" dirty="0" err="1"/>
              <a:t>selectabil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marirea</a:t>
            </a:r>
            <a:r>
              <a:rPr lang="en-US" dirty="0"/>
              <a:t> </a:t>
            </a:r>
            <a:r>
              <a:rPr lang="en-US" dirty="0" err="1"/>
              <a:t>orizontului</a:t>
            </a:r>
            <a:r>
              <a:rPr lang="en-US" dirty="0"/>
              <a:t> de </a:t>
            </a:r>
            <a:r>
              <a:rPr lang="en-US" dirty="0" err="1"/>
              <a:t>solutii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Regula </a:t>
            </a:r>
            <a:r>
              <a:rPr lang="en-US" dirty="0" err="1"/>
              <a:t>atingerea</a:t>
            </a:r>
            <a:r>
              <a:rPr lang="en-US" dirty="0"/>
              <a:t> </a:t>
            </a:r>
            <a:r>
              <a:rPr lang="en-US" dirty="0" err="1"/>
              <a:t>targetului</a:t>
            </a:r>
            <a:r>
              <a:rPr lang="en-US" dirty="0"/>
              <a:t> caloric : </a:t>
            </a:r>
            <a:r>
              <a:rPr lang="en-US" dirty="0" err="1"/>
              <a:t>urmareste</a:t>
            </a:r>
            <a:r>
              <a:rPr lang="en-US" dirty="0"/>
              <a:t> ca 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atinga</a:t>
            </a:r>
            <a:r>
              <a:rPr lang="en-US" dirty="0"/>
              <a:t> </a:t>
            </a:r>
            <a:r>
              <a:rPr lang="en-US" dirty="0" err="1"/>
              <a:t>targetul</a:t>
            </a:r>
            <a:r>
              <a:rPr lang="en-US" dirty="0"/>
              <a:t> caloric total </a:t>
            </a:r>
            <a:r>
              <a:rPr lang="en-US" dirty="0" err="1"/>
              <a:t>dorit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Regula </a:t>
            </a:r>
            <a:r>
              <a:rPr lang="en-US" dirty="0" err="1"/>
              <a:t>diferentelor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calorii</a:t>
            </a:r>
            <a:r>
              <a:rPr lang="en-US" dirty="0"/>
              <a:t>: </a:t>
            </a:r>
            <a:r>
              <a:rPr lang="en-US" dirty="0" err="1"/>
              <a:t>urmareste</a:t>
            </a:r>
            <a:r>
              <a:rPr lang="en-US" dirty="0"/>
              <a:t> </a:t>
            </a:r>
            <a:r>
              <a:rPr lang="en-US" dirty="0" err="1"/>
              <a:t>reducerea</a:t>
            </a:r>
            <a:r>
              <a:rPr lang="en-US" dirty="0"/>
              <a:t> </a:t>
            </a:r>
            <a:r>
              <a:rPr lang="en-US" dirty="0" err="1"/>
              <a:t>solutilor</a:t>
            </a:r>
            <a:r>
              <a:rPr lang="en-US" dirty="0"/>
              <a:t> </a:t>
            </a:r>
            <a:r>
              <a:rPr lang="en-US" dirty="0" err="1"/>
              <a:t>optinute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favorizarea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singur</a:t>
            </a:r>
            <a:r>
              <a:rPr lang="en-US" dirty="0"/>
              <a:t> </a:t>
            </a:r>
            <a:r>
              <a:rPr lang="en-US" dirty="0" err="1"/>
              <a:t>produs</a:t>
            </a:r>
            <a:r>
              <a:rPr lang="en-US" dirty="0"/>
              <a:t>,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un </a:t>
            </a:r>
            <a:r>
              <a:rPr lang="en-US" dirty="0" err="1"/>
              <a:t>produs</a:t>
            </a:r>
            <a:r>
              <a:rPr lang="en-US" dirty="0"/>
              <a:t> cu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calorica</a:t>
            </a:r>
            <a:r>
              <a:rPr lang="en-US" dirty="0"/>
              <a:t> mare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pret</a:t>
            </a:r>
            <a:r>
              <a:rPr lang="en-US" dirty="0"/>
              <a:t> mic </a:t>
            </a:r>
            <a:r>
              <a:rPr lang="en-US" dirty="0" err="1"/>
              <a:t>normalizate</a:t>
            </a:r>
            <a:r>
              <a:rPr lang="en-US" dirty="0"/>
              <a:t> la 100g.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preferat</a:t>
            </a:r>
            <a:r>
              <a:rPr lang="en-US" dirty="0"/>
              <a:t> de </a:t>
            </a:r>
            <a:r>
              <a:rPr lang="en-US" dirty="0" err="1"/>
              <a:t>regula</a:t>
            </a:r>
            <a:r>
              <a:rPr lang="en-US" dirty="0"/>
              <a:t>	             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preferat</a:t>
            </a:r>
            <a:r>
              <a:rPr lang="en-US" dirty="0"/>
              <a:t> de </a:t>
            </a:r>
            <a:r>
              <a:rPr lang="en-US" dirty="0" err="1"/>
              <a:t>regula</a:t>
            </a:r>
            <a:r>
              <a:rPr lang="en-US" dirty="0"/>
              <a:t>	         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nefavorizat</a:t>
            </a:r>
            <a:r>
              <a:rPr lang="en-US" dirty="0"/>
              <a:t> de </a:t>
            </a:r>
            <a:r>
              <a:rPr lang="en-US" dirty="0" err="1"/>
              <a:t>regula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 descr="A bar chart with blue bars&#10;&#10;AI-generated content may be incorrect.">
            <a:extLst>
              <a:ext uri="{FF2B5EF4-FFF2-40B4-BE49-F238E27FC236}">
                <a16:creationId xmlns:a16="http://schemas.microsoft.com/office/drawing/2014/main" id="{9CABB829-EA18-AE7C-64AD-7E07431D4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12" y="3116036"/>
            <a:ext cx="3562975" cy="2649156"/>
          </a:xfrm>
          <a:prstGeom prst="rect">
            <a:avLst/>
          </a:prstGeom>
        </p:spPr>
      </p:pic>
      <p:pic>
        <p:nvPicPr>
          <p:cNvPr id="11" name="Picture 10" descr="A graph of blue bars&#10;&#10;AI-generated content may be incorrect.">
            <a:extLst>
              <a:ext uri="{FF2B5EF4-FFF2-40B4-BE49-F238E27FC236}">
                <a16:creationId xmlns:a16="http://schemas.microsoft.com/office/drawing/2014/main" id="{F372837F-BDD8-570D-6C71-1388AFD4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75" y="3111890"/>
            <a:ext cx="3354240" cy="2632330"/>
          </a:xfrm>
          <a:prstGeom prst="rect">
            <a:avLst/>
          </a:prstGeom>
        </p:spPr>
      </p:pic>
      <p:pic>
        <p:nvPicPr>
          <p:cNvPr id="15" name="Picture 14" descr="A bar chart with blue squares&#10;&#10;AI-generated content may be incorrect.">
            <a:extLst>
              <a:ext uri="{FF2B5EF4-FFF2-40B4-BE49-F238E27FC236}">
                <a16:creationId xmlns:a16="http://schemas.microsoft.com/office/drawing/2014/main" id="{17F3A1CB-D845-D61F-D920-191C78388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311" y="3113402"/>
            <a:ext cx="3286338" cy="263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03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6A34-EE0F-96B0-A93A-4679D1DB1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131683"/>
            <a:ext cx="11155680" cy="5214253"/>
          </a:xfrm>
        </p:spPr>
        <p:txBody>
          <a:bodyPr/>
          <a:lstStyle/>
          <a:p>
            <a:pPr marL="342900" indent="-342900">
              <a:buAutoNum type="arabicPeriod" startAt="4"/>
            </a:pPr>
            <a:r>
              <a:rPr lang="en-US" dirty="0"/>
              <a:t>Regula </a:t>
            </a:r>
            <a:r>
              <a:rPr lang="en-US" dirty="0" err="1"/>
              <a:t>echilibrului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gramajele</a:t>
            </a:r>
            <a:r>
              <a:rPr lang="en-US" dirty="0"/>
              <a:t> </a:t>
            </a:r>
            <a:r>
              <a:rPr lang="en-US" dirty="0" err="1"/>
              <a:t>portilor</a:t>
            </a:r>
            <a:r>
              <a:rPr lang="en-US" dirty="0"/>
              <a:t> : </a:t>
            </a:r>
            <a:r>
              <a:rPr lang="en-US" dirty="0" err="1"/>
              <a:t>urmareste</a:t>
            </a:r>
            <a:r>
              <a:rPr lang="en-US" dirty="0"/>
              <a:t> un </a:t>
            </a:r>
            <a:r>
              <a:rPr lang="en-US" dirty="0" err="1"/>
              <a:t>echilibru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portile</a:t>
            </a:r>
            <a:r>
              <a:rPr lang="en-US" dirty="0"/>
              <a:t> </a:t>
            </a:r>
            <a:r>
              <a:rPr lang="en-US" dirty="0" err="1"/>
              <a:t>alese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gramaj</a:t>
            </a:r>
            <a:r>
              <a:rPr lang="en-US" dirty="0"/>
              <a:t>,  </a:t>
            </a:r>
            <a:r>
              <a:rPr lang="en-US" dirty="0" err="1"/>
              <a:t>calculand</a:t>
            </a:r>
            <a:r>
              <a:rPr lang="en-US" dirty="0"/>
              <a:t> media </a:t>
            </a:r>
            <a:r>
              <a:rPr lang="en-US" dirty="0" err="1"/>
              <a:t>meniul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urmarind</a:t>
            </a:r>
            <a:r>
              <a:rPr lang="en-US" dirty="0"/>
              <a:t> ca </a:t>
            </a:r>
            <a:r>
              <a:rPr lang="en-US" dirty="0" err="1"/>
              <a:t>nici</a:t>
            </a:r>
            <a:r>
              <a:rPr lang="en-US" dirty="0"/>
              <a:t> un </a:t>
            </a:r>
            <a:r>
              <a:rPr lang="en-US" dirty="0" err="1"/>
              <a:t>singur</a:t>
            </a:r>
            <a:r>
              <a:rPr lang="en-US" dirty="0"/>
              <a:t> </a:t>
            </a:r>
            <a:r>
              <a:rPr lang="en-US" dirty="0" err="1"/>
              <a:t>produs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predomine</a:t>
            </a:r>
            <a:r>
              <a:rPr lang="en-US" dirty="0"/>
              <a:t> </a:t>
            </a:r>
            <a:r>
              <a:rPr lang="en-US" dirty="0" err="1"/>
              <a:t>urias</a:t>
            </a:r>
            <a:r>
              <a:rPr lang="en-US" dirty="0"/>
              <a:t> </a:t>
            </a:r>
            <a:r>
              <a:rPr lang="en-US" dirty="0" err="1"/>
              <a:t>peste</a:t>
            </a:r>
            <a:r>
              <a:rPr lang="en-US" dirty="0"/>
              <a:t> media </a:t>
            </a:r>
            <a:r>
              <a:rPr lang="en-US" dirty="0" err="1"/>
              <a:t>totala</a:t>
            </a:r>
            <a:r>
              <a:rPr lang="en-US" dirty="0"/>
              <a:t> a </a:t>
            </a:r>
            <a:r>
              <a:rPr lang="en-US" dirty="0" err="1"/>
              <a:t>gramelor</a:t>
            </a:r>
            <a:r>
              <a:rPr lang="en-US" dirty="0"/>
              <a:t> </a:t>
            </a:r>
            <a:r>
              <a:rPr lang="en-US" dirty="0" err="1"/>
              <a:t>intregului</a:t>
            </a:r>
            <a:r>
              <a:rPr lang="en-US" dirty="0"/>
              <a:t> </a:t>
            </a:r>
            <a:r>
              <a:rPr lang="en-US" dirty="0" err="1"/>
              <a:t>meniu</a:t>
            </a:r>
            <a:r>
              <a:rPr lang="en-US" dirty="0"/>
              <a:t>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respecta</a:t>
            </a:r>
            <a:r>
              <a:rPr lang="en-US" dirty="0"/>
              <a:t> </a:t>
            </a:r>
            <a:r>
              <a:rPr lang="en-US" dirty="0" err="1"/>
              <a:t>regula</a:t>
            </a:r>
            <a:r>
              <a:rPr lang="en-US" dirty="0"/>
              <a:t> 3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echilibrul</a:t>
            </a:r>
            <a:r>
              <a:rPr lang="en-US" dirty="0"/>
              <a:t> caloric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produse</a:t>
            </a:r>
            <a:endParaRPr lang="en-US" dirty="0"/>
          </a:p>
          <a:p>
            <a:pPr marL="342900" indent="-342900">
              <a:buAutoNum type="arabicPeriod" startAt="4"/>
            </a:pPr>
            <a:endParaRPr lang="en-US" dirty="0"/>
          </a:p>
          <a:p>
            <a:pPr marL="342900" indent="-342900">
              <a:buAutoNum type="arabicPeriod" startAt="4"/>
            </a:pPr>
            <a:endParaRPr lang="en-US" dirty="0"/>
          </a:p>
          <a:p>
            <a:pPr marL="342900" indent="-342900">
              <a:buAutoNum type="arabicPeriod" startAt="4"/>
            </a:pPr>
            <a:endParaRPr lang="en-US" dirty="0"/>
          </a:p>
          <a:p>
            <a:pPr marL="342900" indent="-342900">
              <a:buAutoNum type="arabicPeriod" startAt="4"/>
            </a:pPr>
            <a:endParaRPr lang="en-US" dirty="0"/>
          </a:p>
          <a:p>
            <a:pPr marL="342900" indent="-342900">
              <a:buAutoNum type="arabicPeriod" startAt="4"/>
            </a:pPr>
            <a:endParaRPr lang="en-US" dirty="0"/>
          </a:p>
          <a:p>
            <a:pPr marL="342900" indent="-342900">
              <a:buAutoNum type="arabicPeriod" startAt="4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           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preferat</a:t>
            </a:r>
            <a:r>
              <a:rPr lang="en-US" dirty="0"/>
              <a:t> de </a:t>
            </a:r>
            <a:r>
              <a:rPr lang="en-US" dirty="0" err="1"/>
              <a:t>regula</a:t>
            </a:r>
            <a:r>
              <a:rPr lang="en-US" dirty="0"/>
              <a:t>	       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nefavorizat</a:t>
            </a:r>
            <a:r>
              <a:rPr lang="en-US" dirty="0"/>
              <a:t> de </a:t>
            </a:r>
            <a:r>
              <a:rPr lang="en-US" dirty="0" err="1"/>
              <a:t>regula</a:t>
            </a:r>
            <a:endParaRPr lang="en-US" dirty="0"/>
          </a:p>
          <a:p>
            <a:pPr marL="342900" indent="-342900">
              <a:buFont typeface="+mj-lt"/>
              <a:buAutoNum type="arabicPeriod" startAt="5"/>
            </a:pPr>
            <a:r>
              <a:rPr lang="en-US" dirty="0"/>
              <a:t>Regula </a:t>
            </a:r>
            <a:r>
              <a:rPr lang="en-US" dirty="0" err="1"/>
              <a:t>maximizare</a:t>
            </a:r>
            <a:r>
              <a:rPr lang="en-US" dirty="0"/>
              <a:t> </a:t>
            </a:r>
            <a:r>
              <a:rPr lang="en-US" dirty="0" err="1"/>
              <a:t>minerale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vitamin :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 </a:t>
            </a:r>
            <a:r>
              <a:rPr lang="en-US" dirty="0" err="1"/>
              <a:t>vrand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atinga</a:t>
            </a:r>
            <a:r>
              <a:rPr lang="en-US" dirty="0"/>
              <a:t> un target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anuminte</a:t>
            </a:r>
            <a:r>
              <a:rPr lang="en-US" dirty="0"/>
              <a:t> </a:t>
            </a:r>
            <a:r>
              <a:rPr lang="en-US" dirty="0" err="1"/>
              <a:t>minerale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vitamin,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predefinite</a:t>
            </a:r>
            <a:r>
              <a:rPr lang="en-US" dirty="0"/>
              <a:t> conform </a:t>
            </a:r>
            <a:r>
              <a:rPr lang="en-US" dirty="0" err="1"/>
              <a:t>statisticilor</a:t>
            </a:r>
            <a:r>
              <a:rPr lang="en-US" dirty="0"/>
              <a:t> </a:t>
            </a:r>
            <a:r>
              <a:rPr lang="en-US" dirty="0" err="1"/>
              <a:t>medicale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nutritive </a:t>
            </a:r>
            <a:r>
              <a:rPr lang="en-US" dirty="0" err="1"/>
              <a:t>umana</a:t>
            </a:r>
            <a:endParaRPr lang="en-US" dirty="0"/>
          </a:p>
        </p:txBody>
      </p:sp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id="{057497D4-4306-C762-CC78-D01904BC4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44" y="2344582"/>
            <a:ext cx="3531641" cy="2399433"/>
          </a:xfrm>
          <a:prstGeom prst="rect">
            <a:avLst/>
          </a:prstGeom>
        </p:spPr>
      </p:pic>
      <p:pic>
        <p:nvPicPr>
          <p:cNvPr id="7" name="Picture 6" descr="A graph with blue bars&#10;&#10;AI-generated content may be incorrect.">
            <a:extLst>
              <a:ext uri="{FF2B5EF4-FFF2-40B4-BE49-F238E27FC236}">
                <a16:creationId xmlns:a16="http://schemas.microsoft.com/office/drawing/2014/main" id="{95F92D04-15C6-9613-5DF4-CBD18DC06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66" y="2253917"/>
            <a:ext cx="3956472" cy="249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03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CA53-C362-90E9-9901-0F75889F7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vizuala</a:t>
            </a:r>
            <a:r>
              <a:rPr lang="en-US" dirty="0"/>
              <a:t> GUI Swing</a:t>
            </a:r>
            <a:endParaRPr lang="ro-RO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C78AE7-0A42-B79F-1020-4EB26E1AA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7572" y="2012461"/>
            <a:ext cx="7073726" cy="3767328"/>
          </a:xfrm>
        </p:spPr>
        <p:txBody>
          <a:bodyPr/>
          <a:lstStyle/>
          <a:p>
            <a:r>
              <a:rPr lang="en-US" dirty="0"/>
              <a:t>Lista </a:t>
            </a:r>
            <a:r>
              <a:rPr lang="en-US" dirty="0" err="1"/>
              <a:t>alimente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sub forma de checkbox</a:t>
            </a:r>
          </a:p>
          <a:p>
            <a:r>
              <a:rPr lang="en-US" dirty="0"/>
              <a:t>Textbox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bugetului</a:t>
            </a:r>
            <a:r>
              <a:rPr lang="en-US" dirty="0"/>
              <a:t> </a:t>
            </a:r>
            <a:r>
              <a:rPr lang="en-US" dirty="0" err="1"/>
              <a:t>disponibil</a:t>
            </a:r>
            <a:r>
              <a:rPr lang="en-US" dirty="0"/>
              <a:t> </a:t>
            </a:r>
          </a:p>
          <a:p>
            <a:r>
              <a:rPr lang="en-US" dirty="0"/>
              <a:t>Textbox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targetului</a:t>
            </a:r>
            <a:r>
              <a:rPr lang="en-US" dirty="0"/>
              <a:t> caloric</a:t>
            </a:r>
          </a:p>
          <a:p>
            <a:r>
              <a:rPr lang="en-US" dirty="0"/>
              <a:t>Lista checkbox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minerale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vitamin</a:t>
            </a:r>
          </a:p>
          <a:p>
            <a:r>
              <a:rPr lang="en-US" dirty="0"/>
              <a:t>Slider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coeficientului</a:t>
            </a:r>
            <a:r>
              <a:rPr lang="en-US" dirty="0"/>
              <a:t> de </a:t>
            </a:r>
            <a:r>
              <a:rPr lang="en-US" dirty="0" err="1"/>
              <a:t>toleranta</a:t>
            </a:r>
            <a:r>
              <a:rPr lang="en-US" dirty="0"/>
              <a:t> la </a:t>
            </a:r>
            <a:r>
              <a:rPr lang="en-US" dirty="0" err="1"/>
              <a:t>pret</a:t>
            </a:r>
            <a:endParaRPr lang="en-US" dirty="0"/>
          </a:p>
          <a:p>
            <a:r>
              <a:rPr lang="en-US" dirty="0"/>
              <a:t>Buton de </a:t>
            </a:r>
            <a:r>
              <a:rPr lang="en-US" dirty="0" err="1"/>
              <a:t>pornire</a:t>
            </a:r>
            <a:r>
              <a:rPr lang="en-US" dirty="0"/>
              <a:t> </a:t>
            </a:r>
            <a:r>
              <a:rPr lang="en-US" dirty="0" err="1"/>
              <a:t>aplicatie</a:t>
            </a:r>
            <a:endParaRPr lang="en-US" dirty="0"/>
          </a:p>
          <a:p>
            <a:endParaRPr lang="ro-RO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3EA3B6-7C65-0E1B-660F-97664A0F9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60" y="1807909"/>
            <a:ext cx="3307734" cy="417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48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C7EE-376A-1CB5-2E37-4B449677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4178"/>
          </a:xfrm>
        </p:spPr>
        <p:txBody>
          <a:bodyPr/>
          <a:lstStyle/>
          <a:p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JsonTree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E1FB1-4434-F30C-EDC9-5122A4A90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92586"/>
            <a:ext cx="11155680" cy="455335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Folosita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accesarea</a:t>
            </a:r>
            <a:r>
              <a:rPr lang="en-US" dirty="0"/>
              <a:t>, </a:t>
            </a:r>
            <a:r>
              <a:rPr lang="en-US" dirty="0" err="1"/>
              <a:t>salvarea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iterarea</a:t>
            </a:r>
            <a:r>
              <a:rPr lang="en-US" dirty="0"/>
              <a:t> </a:t>
            </a:r>
            <a:r>
              <a:rPr lang="en-US" dirty="0" err="1"/>
              <a:t>informatilor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algoritmului</a:t>
            </a:r>
            <a:r>
              <a:rPr lang="en-US" dirty="0"/>
              <a:t> genetic</a:t>
            </a:r>
          </a:p>
          <a:p>
            <a:r>
              <a:rPr lang="en-US" dirty="0"/>
              <a:t>Valori </a:t>
            </a:r>
            <a:r>
              <a:rPr lang="en-US" dirty="0" err="1"/>
              <a:t>stocate</a:t>
            </a:r>
            <a:r>
              <a:rPr lang="en-US" dirty="0"/>
              <a:t> in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clasei</a:t>
            </a:r>
            <a:endParaRPr lang="en-US" dirty="0"/>
          </a:p>
          <a:p>
            <a:pPr lvl="3"/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acces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Target </a:t>
            </a:r>
            <a:r>
              <a:rPr lang="en-US" dirty="0" err="1"/>
              <a:t>calorii</a:t>
            </a:r>
            <a:endParaRPr lang="en-US" dirty="0"/>
          </a:p>
          <a:p>
            <a:pPr lvl="3"/>
            <a:r>
              <a:rPr lang="en-US" dirty="0" err="1"/>
              <a:t>Buget</a:t>
            </a:r>
            <a:endParaRPr lang="en-US" dirty="0"/>
          </a:p>
          <a:p>
            <a:pPr lvl="3"/>
            <a:r>
              <a:rPr lang="en-US" dirty="0"/>
              <a:t>Vector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prevede</a:t>
            </a:r>
            <a:r>
              <a:rPr lang="en-US" dirty="0"/>
              <a:t> </a:t>
            </a:r>
            <a:r>
              <a:rPr lang="en-US" dirty="0" err="1"/>
              <a:t>preferintele</a:t>
            </a:r>
            <a:r>
              <a:rPr lang="en-US" dirty="0"/>
              <a:t> din </a:t>
            </a:r>
            <a:r>
              <a:rPr lang="en-US" dirty="0" err="1"/>
              <a:t>totalul</a:t>
            </a:r>
            <a:r>
              <a:rPr lang="en-US" dirty="0"/>
              <a:t> de </a:t>
            </a:r>
            <a:r>
              <a:rPr lang="en-US" dirty="0" err="1"/>
              <a:t>alimente</a:t>
            </a:r>
            <a:endParaRPr lang="en-US" dirty="0"/>
          </a:p>
          <a:p>
            <a:pPr lvl="3"/>
            <a:r>
              <a:rPr lang="en-US" dirty="0"/>
              <a:t>Lista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minerale</a:t>
            </a:r>
            <a:r>
              <a:rPr lang="en-US" dirty="0"/>
              <a:t> </a:t>
            </a:r>
            <a:r>
              <a:rPr lang="en-US" dirty="0" err="1"/>
              <a:t>alese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endParaRPr lang="en-US" dirty="0"/>
          </a:p>
          <a:p>
            <a:pPr lvl="3"/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coeficientului</a:t>
            </a:r>
            <a:r>
              <a:rPr lang="en-US" dirty="0"/>
              <a:t> de budget</a:t>
            </a:r>
          </a:p>
          <a:p>
            <a:r>
              <a:rPr lang="en-US" dirty="0" err="1"/>
              <a:t>Functii</a:t>
            </a:r>
            <a:r>
              <a:rPr lang="en-US" dirty="0"/>
              <a:t> </a:t>
            </a:r>
            <a:r>
              <a:rPr lang="en-US" dirty="0" err="1"/>
              <a:t>concepute</a:t>
            </a:r>
            <a:r>
              <a:rPr lang="en-US" dirty="0"/>
              <a:t>:</a:t>
            </a:r>
          </a:p>
          <a:p>
            <a:pPr lvl="3"/>
            <a:r>
              <a:rPr lang="ro-RO" dirty="0"/>
              <a:t>public static void CreateRoot()</a:t>
            </a:r>
            <a:r>
              <a:rPr lang="en-US" dirty="0"/>
              <a:t> – </a:t>
            </a:r>
            <a:r>
              <a:rPr lang="en-US" dirty="0" err="1"/>
              <a:t>iterarea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alimente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initializarea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root de tip </a:t>
            </a:r>
            <a:r>
              <a:rPr lang="en-US" dirty="0" err="1"/>
              <a:t>JsonNode</a:t>
            </a:r>
            <a:r>
              <a:rPr lang="en-US" dirty="0"/>
              <a:t> pt </a:t>
            </a:r>
            <a:r>
              <a:rPr lang="en-US" dirty="0" err="1"/>
              <a:t>acces</a:t>
            </a:r>
            <a:endParaRPr lang="en-US" dirty="0"/>
          </a:p>
          <a:p>
            <a:pPr lvl="3"/>
            <a:r>
              <a:rPr lang="en-US" dirty="0"/>
              <a:t>public static  Map&lt;</a:t>
            </a:r>
            <a:r>
              <a:rPr lang="en-US" dirty="0" err="1"/>
              <a:t>String,Double</a:t>
            </a:r>
            <a:r>
              <a:rPr lang="en-US" dirty="0"/>
              <a:t>&gt; </a:t>
            </a:r>
            <a:r>
              <a:rPr lang="en-US" dirty="0" err="1"/>
              <a:t>List_of_needs</a:t>
            </a:r>
            <a:r>
              <a:rPr lang="en-US" dirty="0"/>
              <a:t>(double[] grams) – </a:t>
            </a:r>
            <a:r>
              <a:rPr lang="en-US" dirty="0" err="1"/>
              <a:t>iterarea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elementelor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Map&lt;</a:t>
            </a:r>
            <a:r>
              <a:rPr lang="en-US" dirty="0" err="1"/>
              <a:t>nume</a:t>
            </a:r>
            <a:r>
              <a:rPr lang="en-US" dirty="0"/>
              <a:t>, </a:t>
            </a:r>
            <a:r>
              <a:rPr lang="en-US" dirty="0" err="1"/>
              <a:t>numar</a:t>
            </a:r>
            <a:r>
              <a:rPr lang="en-US" dirty="0"/>
              <a:t> </a:t>
            </a:r>
            <a:r>
              <a:rPr lang="en-US" dirty="0" err="1"/>
              <a:t>grame</a:t>
            </a:r>
            <a:r>
              <a:rPr lang="en-US" dirty="0"/>
              <a:t>&gt;</a:t>
            </a:r>
          </a:p>
          <a:p>
            <a:pPr lvl="3"/>
            <a:r>
              <a:rPr lang="en-US" dirty="0"/>
              <a:t>public static String[] </a:t>
            </a:r>
            <a:r>
              <a:rPr lang="en-US" dirty="0" err="1"/>
              <a:t>Meniu_List</a:t>
            </a:r>
            <a:r>
              <a:rPr lang="en-US" dirty="0"/>
              <a:t>() – </a:t>
            </a:r>
            <a:r>
              <a:rPr lang="en-US" dirty="0" err="1"/>
              <a:t>returneaza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alimentelor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sub forma de array </a:t>
            </a:r>
          </a:p>
          <a:p>
            <a:pPr lvl="3"/>
            <a:r>
              <a:rPr lang="en-US" dirty="0"/>
              <a:t>public static  Map&lt;String, Double&gt; </a:t>
            </a:r>
            <a:r>
              <a:rPr lang="en-US" dirty="0" err="1"/>
              <a:t>Minerals_calculator</a:t>
            </a:r>
            <a:r>
              <a:rPr lang="en-US" dirty="0"/>
              <a:t>(double[] x) – </a:t>
            </a:r>
            <a:r>
              <a:rPr lang="en-US" dirty="0" err="1"/>
              <a:t>returneaza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minerale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vitamin </a:t>
            </a:r>
            <a:r>
              <a:rPr lang="en-US" dirty="0" err="1"/>
              <a:t>alese</a:t>
            </a:r>
            <a:r>
              <a:rPr lang="en-US" dirty="0"/>
              <a:t> </a:t>
            </a:r>
            <a:r>
              <a:rPr lang="en-US" dirty="0" err="1"/>
              <a:t>impreuna</a:t>
            </a:r>
            <a:r>
              <a:rPr lang="en-US" dirty="0"/>
              <a:t> cu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totata</a:t>
            </a:r>
            <a:r>
              <a:rPr lang="en-US" dirty="0"/>
              <a:t> </a:t>
            </a:r>
            <a:r>
              <a:rPr lang="en-US" dirty="0" err="1"/>
              <a:t>individuala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x[] </a:t>
            </a:r>
            <a:r>
              <a:rPr lang="en-US" dirty="0" err="1"/>
              <a:t>prezinta</a:t>
            </a:r>
            <a:r>
              <a:rPr lang="en-US" dirty="0"/>
              <a:t> </a:t>
            </a:r>
            <a:r>
              <a:rPr lang="en-US" dirty="0" err="1"/>
              <a:t>cromozomul</a:t>
            </a:r>
            <a:r>
              <a:rPr lang="en-US" dirty="0"/>
              <a:t> </a:t>
            </a:r>
            <a:r>
              <a:rPr lang="en-US" dirty="0" err="1"/>
              <a:t>descompus</a:t>
            </a:r>
            <a:r>
              <a:rPr lang="en-US" dirty="0"/>
              <a:t> cu gene </a:t>
            </a:r>
            <a:r>
              <a:rPr lang="en-US" dirty="0" err="1"/>
              <a:t>intre</a:t>
            </a:r>
            <a:r>
              <a:rPr lang="en-US" dirty="0"/>
              <a:t> 0-15</a:t>
            </a:r>
          </a:p>
          <a:p>
            <a:pPr lvl="3"/>
            <a:r>
              <a:rPr lang="en-US" dirty="0"/>
              <a:t> public static void </a:t>
            </a:r>
            <a:r>
              <a:rPr lang="en-US" dirty="0" err="1"/>
              <a:t>showChart</a:t>
            </a:r>
            <a:r>
              <a:rPr lang="en-US" dirty="0"/>
              <a:t>(String title, Map&lt;String, Double&gt; data)- </a:t>
            </a: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graphic bara </a:t>
            </a:r>
            <a:r>
              <a:rPr lang="en-US" dirty="0" err="1"/>
              <a:t>verticala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label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transmis</a:t>
            </a:r>
            <a:r>
              <a:rPr lang="en-US" dirty="0"/>
              <a:t> ca </a:t>
            </a:r>
            <a:r>
              <a:rPr lang="en-US" dirty="0" err="1"/>
              <a:t>parametru</a:t>
            </a:r>
            <a:r>
              <a:rPr lang="en-US" dirty="0"/>
              <a:t>(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solutie</a:t>
            </a:r>
            <a:r>
              <a:rPr lang="en-US" dirty="0"/>
              <a:t> determinate la </a:t>
            </a:r>
            <a:r>
              <a:rPr lang="en-US" dirty="0" err="1"/>
              <a:t>acel</a:t>
            </a:r>
            <a:r>
              <a:rPr lang="en-US" dirty="0"/>
              <a:t> moment)</a:t>
            </a:r>
          </a:p>
          <a:p>
            <a:pPr marL="13716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lvl="3"/>
            <a:endParaRPr lang="ro-RO" dirty="0"/>
          </a:p>
          <a:p>
            <a:pPr lvl="3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57217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C04B-6F7F-C726-8793-5790BEE3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MyForm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6C440-022F-C8AE-EEC8-B4838CA0A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9221"/>
            <a:ext cx="11155680" cy="4356715"/>
          </a:xfrm>
        </p:spPr>
        <p:txBody>
          <a:bodyPr/>
          <a:lstStyle/>
          <a:p>
            <a:r>
              <a:rPr lang="en-US" dirty="0" err="1"/>
              <a:t>Folosita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interfatei</a:t>
            </a:r>
            <a:r>
              <a:rPr lang="en-US" dirty="0"/>
              <a:t> </a:t>
            </a:r>
            <a:r>
              <a:rPr lang="en-US" dirty="0" err="1"/>
              <a:t>utilizator</a:t>
            </a:r>
            <a:endParaRPr lang="en-US" dirty="0"/>
          </a:p>
          <a:p>
            <a:r>
              <a:rPr lang="en-US" dirty="0" err="1"/>
              <a:t>Functii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:</a:t>
            </a:r>
          </a:p>
          <a:p>
            <a:pPr lvl="3"/>
            <a:r>
              <a:rPr lang="en-US" dirty="0" err="1"/>
              <a:t>MyForm</a:t>
            </a:r>
            <a:r>
              <a:rPr lang="en-US" dirty="0"/>
              <a:t> - </a:t>
            </a:r>
            <a:r>
              <a:rPr lang="en-US" dirty="0" err="1"/>
              <a:t>generare</a:t>
            </a:r>
            <a:r>
              <a:rPr lang="en-US" dirty="0"/>
              <a:t> </a:t>
            </a:r>
            <a:r>
              <a:rPr lang="en-US" dirty="0" err="1"/>
              <a:t>fereastra</a:t>
            </a:r>
            <a:endParaRPr lang="en-US" dirty="0"/>
          </a:p>
          <a:p>
            <a:pPr lvl="3"/>
            <a:r>
              <a:rPr lang="en-US" dirty="0"/>
              <a:t>public void </a:t>
            </a:r>
            <a:r>
              <a:rPr lang="en-US" dirty="0" err="1"/>
              <a:t>getValues</a:t>
            </a:r>
            <a:r>
              <a:rPr lang="en-US" dirty="0"/>
              <a:t>() throws Exception – </a:t>
            </a:r>
            <a:r>
              <a:rPr lang="en-US" dirty="0" err="1"/>
              <a:t>preluarea</a:t>
            </a:r>
            <a:r>
              <a:rPr lang="en-US" dirty="0"/>
              <a:t> </a:t>
            </a:r>
            <a:r>
              <a:rPr lang="en-US" dirty="0" err="1"/>
              <a:t>bugetului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targetului</a:t>
            </a:r>
            <a:r>
              <a:rPr lang="en-US" dirty="0"/>
              <a:t> caloric, </a:t>
            </a:r>
            <a:r>
              <a:rPr lang="en-US" dirty="0" err="1"/>
              <a:t>totodata</a:t>
            </a:r>
            <a:r>
              <a:rPr lang="en-US" dirty="0"/>
              <a:t> </a:t>
            </a:r>
            <a:r>
              <a:rPr lang="en-US" dirty="0" err="1"/>
              <a:t>asigurand</a:t>
            </a:r>
            <a:r>
              <a:rPr lang="en-US" dirty="0"/>
              <a:t> </a:t>
            </a:r>
            <a:r>
              <a:rPr lang="en-US" dirty="0" err="1"/>
              <a:t>falidarea</a:t>
            </a:r>
            <a:r>
              <a:rPr lang="en-US" dirty="0"/>
              <a:t> </a:t>
            </a:r>
            <a:r>
              <a:rPr lang="en-US" dirty="0" err="1"/>
              <a:t>formatului</a:t>
            </a:r>
            <a:r>
              <a:rPr lang="en-US" dirty="0"/>
              <a:t> </a:t>
            </a:r>
            <a:r>
              <a:rPr lang="en-US" dirty="0" err="1"/>
              <a:t>acestora</a:t>
            </a:r>
            <a:endParaRPr lang="en-US" dirty="0"/>
          </a:p>
          <a:p>
            <a:pPr lvl="3"/>
            <a:r>
              <a:rPr lang="en-US" dirty="0"/>
              <a:t>public double[] </a:t>
            </a:r>
            <a:r>
              <a:rPr lang="en-US" dirty="0" err="1"/>
              <a:t>getCheckBoxDoubleArray</a:t>
            </a:r>
            <a:r>
              <a:rPr lang="en-US" dirty="0"/>
              <a:t>(List&lt;</a:t>
            </a:r>
            <a:r>
              <a:rPr lang="en-US" dirty="0" err="1"/>
              <a:t>JCheckBox</a:t>
            </a:r>
            <a:r>
              <a:rPr lang="en-US" dirty="0"/>
              <a:t>&gt; cheBOX1) – </a:t>
            </a:r>
            <a:r>
              <a:rPr lang="en-US" dirty="0" err="1"/>
              <a:t>preluarea</a:t>
            </a:r>
            <a:r>
              <a:rPr lang="en-US" dirty="0"/>
              <a:t> </a:t>
            </a:r>
            <a:r>
              <a:rPr lang="en-US" dirty="0" err="1"/>
              <a:t>alimentelor</a:t>
            </a:r>
            <a:r>
              <a:rPr lang="en-US" dirty="0"/>
              <a:t> </a:t>
            </a:r>
            <a:r>
              <a:rPr lang="en-US" dirty="0" err="1"/>
              <a:t>alese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salvarea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in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clasei</a:t>
            </a:r>
            <a:r>
              <a:rPr lang="en-US" dirty="0"/>
              <a:t> </a:t>
            </a:r>
            <a:r>
              <a:rPr lang="en-US" dirty="0" err="1"/>
              <a:t>JsonTree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returnarea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array de tip double[]</a:t>
            </a:r>
          </a:p>
          <a:p>
            <a:pPr lvl="3"/>
            <a:r>
              <a:rPr lang="ro-RO" dirty="0"/>
              <a:t>public  Map&lt;String, Double&gt; getCheckBoxStringArray(List&lt;JCheckBox&gt; checkBoxes)</a:t>
            </a:r>
            <a:r>
              <a:rPr lang="en-US" dirty="0"/>
              <a:t> – </a:t>
            </a:r>
            <a:r>
              <a:rPr lang="en-US" dirty="0" err="1"/>
              <a:t>preluarea</a:t>
            </a:r>
            <a:r>
              <a:rPr lang="en-US" dirty="0"/>
              <a:t> </a:t>
            </a:r>
            <a:r>
              <a:rPr lang="en-US" dirty="0" err="1"/>
              <a:t>mineralelor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vitaminelor</a:t>
            </a:r>
            <a:r>
              <a:rPr lang="en-US" dirty="0"/>
              <a:t> </a:t>
            </a:r>
            <a:r>
              <a:rPr lang="en-US" dirty="0" err="1"/>
              <a:t>alese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returnand</a:t>
            </a:r>
            <a:r>
              <a:rPr lang="en-US" dirty="0"/>
              <a:t> un Map&lt; </a:t>
            </a:r>
            <a:r>
              <a:rPr lang="en-US" dirty="0" err="1"/>
              <a:t>nume</a:t>
            </a:r>
            <a:r>
              <a:rPr lang="en-US" dirty="0"/>
              <a:t>, 0.0 &gt;</a:t>
            </a:r>
          </a:p>
          <a:p>
            <a:pPr lvl="3"/>
            <a:r>
              <a:rPr lang="ro-RO" dirty="0"/>
              <a:t>public void IConfiguration_meniu() thr</a:t>
            </a:r>
            <a:r>
              <a:rPr lang="en-US" dirty="0"/>
              <a:t>ow </a:t>
            </a:r>
            <a:r>
              <a:rPr lang="ro-RO" dirty="0"/>
              <a:t> InvalidConfigurationException</a:t>
            </a:r>
            <a:r>
              <a:rPr lang="en-US" dirty="0"/>
              <a:t>  -  </a:t>
            </a:r>
            <a:r>
              <a:rPr lang="en-US" dirty="0" err="1"/>
              <a:t>pornirea</a:t>
            </a:r>
            <a:r>
              <a:rPr lang="en-US" dirty="0"/>
              <a:t> </a:t>
            </a:r>
            <a:r>
              <a:rPr lang="en-US" dirty="0" err="1"/>
              <a:t>algoritmului</a:t>
            </a:r>
            <a:r>
              <a:rPr lang="en-US" dirty="0"/>
              <a:t> genetic de </a:t>
            </a:r>
            <a:r>
              <a:rPr lang="en-US" dirty="0" err="1"/>
              <a:t>calcul</a:t>
            </a:r>
            <a:endParaRPr lang="ro-RO" dirty="0"/>
          </a:p>
          <a:p>
            <a:pPr lvl="3"/>
            <a:endParaRPr lang="ro-RO" dirty="0"/>
          </a:p>
          <a:p>
            <a:pPr lvl="3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91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ECD2-823F-0BE3-49BA-3BDC00CC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FitnessMeniu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4DCC-C7E6-228E-0688-205A603E4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74479"/>
            <a:ext cx="11155680" cy="4571457"/>
          </a:xfrm>
        </p:spPr>
        <p:txBody>
          <a:bodyPr/>
          <a:lstStyle/>
          <a:p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statica</a:t>
            </a:r>
            <a:r>
              <a:rPr lang="en-US" dirty="0"/>
              <a:t> </a:t>
            </a:r>
            <a:r>
              <a:rPr lang="en-US" dirty="0" err="1"/>
              <a:t>folosita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mappingul</a:t>
            </a:r>
            <a:r>
              <a:rPr lang="en-US" dirty="0"/>
              <a:t> </a:t>
            </a:r>
            <a:r>
              <a:rPr lang="en-US" dirty="0" err="1"/>
              <a:t>cromozomilor</a:t>
            </a:r>
            <a:r>
              <a:rPr lang="en-US" dirty="0"/>
              <a:t>, </a:t>
            </a:r>
            <a:r>
              <a:rPr lang="en-US" dirty="0" err="1"/>
              <a:t>calcularea</a:t>
            </a:r>
            <a:r>
              <a:rPr lang="en-US" dirty="0"/>
              <a:t> </a:t>
            </a:r>
            <a:r>
              <a:rPr lang="en-US" dirty="0" err="1"/>
              <a:t>valorii</a:t>
            </a:r>
            <a:r>
              <a:rPr lang="en-US" dirty="0"/>
              <a:t> de fitness</a:t>
            </a:r>
          </a:p>
          <a:p>
            <a:r>
              <a:rPr lang="en-US" dirty="0" err="1"/>
              <a:t>Functi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public double evaluate(</a:t>
            </a:r>
            <a:r>
              <a:rPr lang="en-US" dirty="0" err="1"/>
              <a:t>IChromosome</a:t>
            </a:r>
            <a:r>
              <a:rPr lang="en-US" dirty="0"/>
              <a:t> chr) –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apelata</a:t>
            </a:r>
            <a:r>
              <a:rPr lang="en-US" dirty="0"/>
              <a:t> automat de </a:t>
            </a:r>
            <a:r>
              <a:rPr lang="en-US" dirty="0" err="1"/>
              <a:t>algoritmii</a:t>
            </a:r>
            <a:r>
              <a:rPr lang="en-US" dirty="0"/>
              <a:t> </a:t>
            </a:r>
            <a:r>
              <a:rPr lang="en-US" dirty="0" err="1"/>
              <a:t>genetici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avaluarea</a:t>
            </a:r>
            <a:r>
              <a:rPr lang="en-US" dirty="0"/>
              <a:t> </a:t>
            </a:r>
            <a:r>
              <a:rPr lang="en-US" dirty="0" err="1"/>
              <a:t>cromozomului</a:t>
            </a:r>
            <a:endParaRPr lang="en-US" dirty="0"/>
          </a:p>
          <a:p>
            <a:pPr lvl="2"/>
            <a:r>
              <a:rPr lang="ro-RO" dirty="0"/>
              <a:t>public static double toleranta_Diferenta(double[] cals,double x)</a:t>
            </a:r>
            <a:r>
              <a:rPr lang="en-US" dirty="0"/>
              <a:t> –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prevede</a:t>
            </a:r>
            <a:r>
              <a:rPr lang="en-US" dirty="0"/>
              <a:t> </a:t>
            </a:r>
            <a:r>
              <a:rPr lang="en-US" dirty="0" err="1"/>
              <a:t>impunerea</a:t>
            </a:r>
            <a:r>
              <a:rPr lang="en-US" dirty="0"/>
              <a:t> </a:t>
            </a:r>
            <a:r>
              <a:rPr lang="en-US" dirty="0" err="1"/>
              <a:t>regulii</a:t>
            </a:r>
            <a:r>
              <a:rPr lang="en-US" dirty="0"/>
              <a:t> 3</a:t>
            </a:r>
          </a:p>
          <a:p>
            <a:pPr lvl="2"/>
            <a:r>
              <a:rPr lang="ro-RO" dirty="0"/>
              <a:t>public static double toleranta_Medie(double[] cals)</a:t>
            </a:r>
            <a:r>
              <a:rPr lang="en-US" dirty="0"/>
              <a:t> –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prevede</a:t>
            </a:r>
            <a:r>
              <a:rPr lang="en-US" dirty="0"/>
              <a:t> </a:t>
            </a:r>
            <a:r>
              <a:rPr lang="en-US" dirty="0" err="1"/>
              <a:t>impunerea</a:t>
            </a:r>
            <a:r>
              <a:rPr lang="en-US" dirty="0"/>
              <a:t> </a:t>
            </a:r>
            <a:r>
              <a:rPr lang="en-US" dirty="0" err="1"/>
              <a:t>regulii</a:t>
            </a:r>
            <a:r>
              <a:rPr lang="en-US" dirty="0"/>
              <a:t> 4</a:t>
            </a:r>
          </a:p>
          <a:p>
            <a:pPr lvl="2"/>
            <a:r>
              <a:rPr lang="en-US" dirty="0"/>
              <a:t>public static double[] </a:t>
            </a:r>
            <a:r>
              <a:rPr lang="en-US" dirty="0" err="1"/>
              <a:t>Mapping_cals</a:t>
            </a:r>
            <a:r>
              <a:rPr lang="en-US" dirty="0"/>
              <a:t>(</a:t>
            </a:r>
            <a:r>
              <a:rPr lang="en-US" dirty="0" err="1"/>
              <a:t>IChromosome</a:t>
            </a:r>
            <a:r>
              <a:rPr lang="en-US" dirty="0"/>
              <a:t> chr)  - 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calculeaza</a:t>
            </a:r>
            <a:r>
              <a:rPr lang="en-US" dirty="0"/>
              <a:t> </a:t>
            </a:r>
            <a:r>
              <a:rPr lang="en-US" dirty="0" err="1"/>
              <a:t>conversia</a:t>
            </a:r>
            <a:r>
              <a:rPr lang="en-US" dirty="0"/>
              <a:t> de la </a:t>
            </a:r>
            <a:r>
              <a:rPr lang="en-US" dirty="0" err="1"/>
              <a:t>cromozom</a:t>
            </a:r>
            <a:r>
              <a:rPr lang="en-US" dirty="0"/>
              <a:t> la vector de tip double[]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vizualizarea</a:t>
            </a:r>
            <a:r>
              <a:rPr lang="en-US" dirty="0"/>
              <a:t> </a:t>
            </a:r>
            <a:r>
              <a:rPr lang="en-US" dirty="0" err="1"/>
              <a:t>caloriilor</a:t>
            </a:r>
            <a:r>
              <a:rPr lang="en-US" dirty="0"/>
              <a:t> </a:t>
            </a:r>
            <a:r>
              <a:rPr lang="en-US" dirty="0" err="1"/>
              <a:t>fiecarui</a:t>
            </a:r>
            <a:r>
              <a:rPr lang="en-US" dirty="0"/>
              <a:t> </a:t>
            </a:r>
            <a:r>
              <a:rPr lang="en-US" dirty="0" err="1"/>
              <a:t>produs</a:t>
            </a:r>
            <a:r>
              <a:rPr lang="en-US" dirty="0"/>
              <a:t> </a:t>
            </a:r>
            <a:r>
              <a:rPr lang="en-US" dirty="0" err="1"/>
              <a:t>necesar</a:t>
            </a:r>
            <a:endParaRPr lang="en-US" dirty="0"/>
          </a:p>
          <a:p>
            <a:pPr lvl="2"/>
            <a:r>
              <a:rPr lang="en-US" dirty="0"/>
              <a:t>public static double[] </a:t>
            </a:r>
            <a:r>
              <a:rPr lang="en-US" dirty="0" err="1"/>
              <a:t>Mapping_pret</a:t>
            </a:r>
            <a:r>
              <a:rPr lang="en-US" dirty="0"/>
              <a:t>(</a:t>
            </a:r>
            <a:r>
              <a:rPr lang="en-US" dirty="0" err="1"/>
              <a:t>IChromosome</a:t>
            </a:r>
            <a:r>
              <a:rPr lang="en-US" dirty="0"/>
              <a:t> chr) –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calculeaza</a:t>
            </a:r>
            <a:r>
              <a:rPr lang="en-US" dirty="0"/>
              <a:t> </a:t>
            </a:r>
            <a:r>
              <a:rPr lang="en-US" dirty="0" err="1"/>
              <a:t>conversia</a:t>
            </a:r>
            <a:r>
              <a:rPr lang="en-US" dirty="0"/>
              <a:t> </a:t>
            </a:r>
            <a:r>
              <a:rPr lang="en-US" dirty="0" err="1"/>
              <a:t>cromozomului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optine</a:t>
            </a:r>
            <a:r>
              <a:rPr lang="en-US" dirty="0"/>
              <a:t> </a:t>
            </a:r>
            <a:r>
              <a:rPr lang="en-US" dirty="0" err="1"/>
              <a:t>pretul</a:t>
            </a:r>
            <a:r>
              <a:rPr lang="en-US" dirty="0"/>
              <a:t> </a:t>
            </a:r>
            <a:r>
              <a:rPr lang="en-US" dirty="0" err="1"/>
              <a:t>viecarui</a:t>
            </a:r>
            <a:r>
              <a:rPr lang="en-US" dirty="0"/>
              <a:t> aliment </a:t>
            </a:r>
            <a:r>
              <a:rPr lang="en-US" dirty="0" err="1"/>
              <a:t>necesar</a:t>
            </a:r>
            <a:endParaRPr lang="en-US" dirty="0"/>
          </a:p>
          <a:p>
            <a:pPr lvl="2"/>
            <a:r>
              <a:rPr lang="en-US" dirty="0"/>
              <a:t>public static double[] </a:t>
            </a:r>
            <a:r>
              <a:rPr lang="en-US" dirty="0" err="1"/>
              <a:t>Mapping_grams</a:t>
            </a:r>
            <a:r>
              <a:rPr lang="en-US" dirty="0"/>
              <a:t>(</a:t>
            </a:r>
            <a:r>
              <a:rPr lang="en-US" dirty="0" err="1"/>
              <a:t>IChromosome</a:t>
            </a:r>
            <a:r>
              <a:rPr lang="en-US" dirty="0"/>
              <a:t> chr) –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calculeaza</a:t>
            </a:r>
            <a:r>
              <a:rPr lang="en-US" dirty="0"/>
              <a:t> </a:t>
            </a:r>
            <a:r>
              <a:rPr lang="en-US" dirty="0" err="1"/>
              <a:t>conversia</a:t>
            </a:r>
            <a:r>
              <a:rPr lang="en-US" dirty="0"/>
              <a:t> </a:t>
            </a:r>
            <a:r>
              <a:rPr lang="en-US" dirty="0" err="1"/>
              <a:t>cromozomului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optine</a:t>
            </a:r>
            <a:r>
              <a:rPr lang="en-US" dirty="0"/>
              <a:t> </a:t>
            </a:r>
            <a:r>
              <a:rPr lang="en-US" dirty="0" err="1"/>
              <a:t>gramajul</a:t>
            </a:r>
            <a:r>
              <a:rPr lang="en-US" dirty="0"/>
              <a:t> </a:t>
            </a:r>
            <a:r>
              <a:rPr lang="en-US" dirty="0" err="1"/>
              <a:t>fiecarui</a:t>
            </a:r>
            <a:r>
              <a:rPr lang="en-US" dirty="0"/>
              <a:t> </a:t>
            </a:r>
            <a:r>
              <a:rPr lang="en-US" dirty="0" err="1"/>
              <a:t>produs</a:t>
            </a:r>
            <a:r>
              <a:rPr lang="en-US" dirty="0"/>
              <a:t> </a:t>
            </a:r>
            <a:r>
              <a:rPr lang="en-US" dirty="0" err="1"/>
              <a:t>necesar</a:t>
            </a:r>
            <a:endParaRPr lang="en-US" dirty="0"/>
          </a:p>
          <a:p>
            <a:pPr lvl="2"/>
            <a:r>
              <a:rPr lang="en-US" dirty="0"/>
              <a:t>public static double </a:t>
            </a:r>
            <a:r>
              <a:rPr lang="en-US" dirty="0" err="1"/>
              <a:t>Mapping_mins</a:t>
            </a:r>
            <a:r>
              <a:rPr lang="en-US" dirty="0"/>
              <a:t>(</a:t>
            </a:r>
            <a:r>
              <a:rPr lang="en-US" dirty="0" err="1"/>
              <a:t>IChromosome</a:t>
            </a:r>
            <a:r>
              <a:rPr lang="en-US" dirty="0"/>
              <a:t> chr)  -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calculeaza</a:t>
            </a:r>
            <a:r>
              <a:rPr lang="en-US" dirty="0"/>
              <a:t> </a:t>
            </a:r>
            <a:r>
              <a:rPr lang="en-US" dirty="0" err="1"/>
              <a:t>conversia</a:t>
            </a:r>
            <a:r>
              <a:rPr lang="en-US" dirty="0"/>
              <a:t> </a:t>
            </a:r>
            <a:r>
              <a:rPr lang="en-US" dirty="0" err="1"/>
              <a:t>cromozomului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optine</a:t>
            </a:r>
            <a:r>
              <a:rPr lang="en-US" dirty="0"/>
              <a:t> </a:t>
            </a:r>
            <a:r>
              <a:rPr lang="en-US" dirty="0" err="1"/>
              <a:t>eroarea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mineralelor</a:t>
            </a:r>
            <a:r>
              <a:rPr lang="en-US" dirty="0"/>
              <a:t>/</a:t>
            </a:r>
            <a:r>
              <a:rPr lang="en-US" dirty="0" err="1"/>
              <a:t>vitaminelor</a:t>
            </a:r>
            <a:r>
              <a:rPr lang="en-US" dirty="0"/>
              <a:t> </a:t>
            </a:r>
            <a:r>
              <a:rPr lang="en-US" dirty="0" err="1"/>
              <a:t>alese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standardul</a:t>
            </a:r>
            <a:r>
              <a:rPr lang="en-US" dirty="0"/>
              <a:t> </a:t>
            </a:r>
            <a:r>
              <a:rPr lang="en-US" dirty="0" err="1"/>
              <a:t>zilnic</a:t>
            </a:r>
            <a:r>
              <a:rPr lang="en-US" dirty="0"/>
              <a:t> </a:t>
            </a:r>
            <a:r>
              <a:rPr lang="en-US" dirty="0" err="1"/>
              <a:t>necesar</a:t>
            </a:r>
            <a:r>
              <a:rPr lang="en-US" dirty="0"/>
              <a:t> al finite </a:t>
            </a:r>
            <a:r>
              <a:rPr lang="en-US" dirty="0" err="1"/>
              <a:t>umane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ro-RO" dirty="0"/>
          </a:p>
          <a:p>
            <a:pPr lvl="2"/>
            <a:endParaRPr lang="en-US" dirty="0"/>
          </a:p>
          <a:p>
            <a:pPr lvl="2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01041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EF2A-B0E9-73C2-BAD6-22E86CA7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r>
              <a:rPr lang="en-US" dirty="0"/>
              <a:t> generate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FEF8-2A0D-8B88-A9B6-32F391DED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63384"/>
            <a:ext cx="11155680" cy="3767328"/>
          </a:xfrm>
        </p:spPr>
        <p:txBody>
          <a:bodyPr/>
          <a:lstStyle/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programului</a:t>
            </a:r>
            <a:r>
              <a:rPr lang="en-US" dirty="0"/>
              <a:t> se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meniuri</a:t>
            </a:r>
            <a:r>
              <a:rPr lang="en-US" dirty="0"/>
              <a:t> de </a:t>
            </a:r>
            <a:r>
              <a:rPr lang="en-US" dirty="0" err="1"/>
              <a:t>alegeri</a:t>
            </a:r>
            <a:r>
              <a:rPr lang="en-US" dirty="0"/>
              <a:t> </a:t>
            </a:r>
            <a:r>
              <a:rPr lang="en-US" dirty="0" err="1"/>
              <a:t>alimentare</a:t>
            </a: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US" dirty="0" err="1"/>
              <a:t>Orez</a:t>
            </a:r>
            <a:r>
              <a:rPr lang="en-US" dirty="0"/>
              <a:t> </a:t>
            </a:r>
            <a:r>
              <a:rPr lang="en-US" dirty="0" err="1"/>
              <a:t>brun</a:t>
            </a:r>
            <a:r>
              <a:rPr lang="en-US" dirty="0"/>
              <a:t>, Carne de Vita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Naut ,</a:t>
            </a:r>
            <a:r>
              <a:rPr lang="en-US" dirty="0" err="1"/>
              <a:t>orez_brun</a:t>
            </a:r>
            <a:r>
              <a:rPr lang="en-US" dirty="0"/>
              <a:t> , Carne de Vita, </a:t>
            </a:r>
            <a:r>
              <a:rPr lang="en-US" dirty="0" err="1"/>
              <a:t>Somon</a:t>
            </a:r>
            <a:r>
              <a:rPr lang="en-US" dirty="0"/>
              <a:t>, </a:t>
            </a:r>
            <a:r>
              <a:rPr lang="en-US" dirty="0" err="1"/>
              <a:t>Oua</a:t>
            </a:r>
            <a:r>
              <a:rPr lang="en-US" dirty="0"/>
              <a:t>, </a:t>
            </a:r>
            <a:r>
              <a:rPr lang="en-US" dirty="0" err="1"/>
              <a:t>Ardei</a:t>
            </a:r>
            <a:r>
              <a:rPr lang="en-US" dirty="0"/>
              <a:t> Copt, Masline </a:t>
            </a:r>
            <a:r>
              <a:rPr lang="en-US" dirty="0" err="1"/>
              <a:t>verzi</a:t>
            </a:r>
            <a:endParaRPr lang="en-US" dirty="0"/>
          </a:p>
          <a:p>
            <a:r>
              <a:rPr lang="en-US" dirty="0" err="1"/>
              <a:t>Buget</a:t>
            </a:r>
            <a:r>
              <a:rPr lang="en-US" dirty="0"/>
              <a:t>: 40 lei</a:t>
            </a:r>
          </a:p>
          <a:p>
            <a:r>
              <a:rPr lang="en-US" dirty="0"/>
              <a:t>Target caloric: 1200 </a:t>
            </a:r>
            <a:r>
              <a:rPr lang="en-US" dirty="0" err="1"/>
              <a:t>cal</a:t>
            </a:r>
            <a:endParaRPr lang="en-US" dirty="0"/>
          </a:p>
          <a:p>
            <a:r>
              <a:rPr lang="en-US" dirty="0" err="1"/>
              <a:t>Modificari</a:t>
            </a:r>
            <a:r>
              <a:rPr lang="en-US" dirty="0"/>
              <a:t> </a:t>
            </a:r>
            <a:r>
              <a:rPr lang="en-US" dirty="0" err="1"/>
              <a:t>scurte</a:t>
            </a:r>
            <a:r>
              <a:rPr lang="en-US" dirty="0"/>
              <a:t> de </a:t>
            </a:r>
            <a:r>
              <a:rPr lang="en-US" dirty="0" err="1"/>
              <a:t>parametri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comportamentul</a:t>
            </a:r>
            <a:r>
              <a:rPr lang="en-US" dirty="0"/>
              <a:t> </a:t>
            </a:r>
            <a:r>
              <a:rPr lang="en-US" dirty="0" err="1"/>
              <a:t>algorimului</a:t>
            </a:r>
            <a:endParaRPr lang="en-US" dirty="0"/>
          </a:p>
          <a:p>
            <a:pPr lvl="2"/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coeficienttului</a:t>
            </a:r>
            <a:r>
              <a:rPr lang="en-US" dirty="0"/>
              <a:t> de </a:t>
            </a:r>
            <a:r>
              <a:rPr lang="en-US" dirty="0" err="1"/>
              <a:t>pret</a:t>
            </a:r>
            <a:r>
              <a:rPr lang="en-US" dirty="0"/>
              <a:t> de la </a:t>
            </a:r>
            <a:r>
              <a:rPr lang="en-US" dirty="0" err="1"/>
              <a:t>valoarea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0.7 la 0.1 </a:t>
            </a:r>
            <a:r>
              <a:rPr lang="en-US" dirty="0" err="1"/>
              <a:t>si</a:t>
            </a:r>
            <a:r>
              <a:rPr lang="en-US" dirty="0"/>
              <a:t> 1.0</a:t>
            </a:r>
          </a:p>
          <a:p>
            <a:pPr lvl="2"/>
            <a:r>
              <a:rPr lang="en-US" dirty="0" err="1"/>
              <a:t>Dublarea</a:t>
            </a:r>
            <a:r>
              <a:rPr lang="en-US" dirty="0"/>
              <a:t> </a:t>
            </a:r>
            <a:r>
              <a:rPr lang="en-US" dirty="0" err="1"/>
              <a:t>targetului</a:t>
            </a:r>
            <a:r>
              <a:rPr lang="en-US" dirty="0"/>
              <a:t> caloric</a:t>
            </a:r>
          </a:p>
          <a:p>
            <a:pPr lvl="2"/>
            <a:r>
              <a:rPr lang="en-US" dirty="0" err="1"/>
              <a:t>Introducerea</a:t>
            </a:r>
            <a:r>
              <a:rPr lang="en-US" dirty="0"/>
              <a:t> </a:t>
            </a:r>
            <a:r>
              <a:rPr lang="en-US" dirty="0" err="1"/>
              <a:t>nevoilor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calciu</a:t>
            </a:r>
            <a:r>
              <a:rPr lang="en-US" dirty="0"/>
              <a:t>, </a:t>
            </a:r>
            <a:r>
              <a:rPr lang="en-US" dirty="0" err="1"/>
              <a:t>potasiu</a:t>
            </a:r>
            <a:r>
              <a:rPr lang="en-US" dirty="0"/>
              <a:t>, </a:t>
            </a:r>
            <a:r>
              <a:rPr lang="en-US" dirty="0" err="1"/>
              <a:t>vitamina</a:t>
            </a:r>
            <a:r>
              <a:rPr lang="en-US" dirty="0"/>
              <a:t> B6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vitamina</a:t>
            </a:r>
            <a:r>
              <a:rPr lang="en-US" dirty="0"/>
              <a:t> C</a:t>
            </a:r>
          </a:p>
          <a:p>
            <a:pPr marL="1257300" lvl="2" indent="-342900">
              <a:buFont typeface="+mj-lt"/>
              <a:buAutoNum type="arabicPeriod"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13077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3619C-64E2-C3FE-A2D3-306548E843C9}"/>
              </a:ext>
            </a:extLst>
          </p:cNvPr>
          <p:cNvSpPr txBox="1"/>
          <p:nvPr/>
        </p:nvSpPr>
        <p:spPr>
          <a:xfrm>
            <a:off x="521208" y="978408"/>
            <a:ext cx="626364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EXEMPLU 1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BF202-652F-64B8-46AE-876D6367F62F}"/>
              </a:ext>
            </a:extLst>
          </p:cNvPr>
          <p:cNvSpPr txBox="1"/>
          <p:nvPr/>
        </p:nvSpPr>
        <p:spPr>
          <a:xfrm>
            <a:off x="521208" y="2578608"/>
            <a:ext cx="626364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Orez brun= 553g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Carne vita = 244g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Valoare calorica= 1200 cal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Pret = 13.32 lei 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1B167C8-A823-68CE-1230-D76280CC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492" y="976160"/>
            <a:ext cx="4364590" cy="510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84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68BD8F-A7CB-08AC-620B-E0FE54A2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BA2B5CE-D539-B1D4-1108-99666B528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aph with a blue bar&#10;&#10;AI-generated content may be incorrect.">
            <a:extLst>
              <a:ext uri="{FF2B5EF4-FFF2-40B4-BE49-F238E27FC236}">
                <a16:creationId xmlns:a16="http://schemas.microsoft.com/office/drawing/2014/main" id="{71974546-1ADE-438B-B008-8537321A0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36" b="6"/>
          <a:stretch>
            <a:fillRect/>
          </a:stretch>
        </p:blipFill>
        <p:spPr>
          <a:xfrm>
            <a:off x="570999" y="1344013"/>
            <a:ext cx="2641791" cy="3826001"/>
          </a:xfrm>
          <a:prstGeom prst="rect">
            <a:avLst/>
          </a:prstGeom>
        </p:spPr>
      </p:pic>
      <p:pic>
        <p:nvPicPr>
          <p:cNvPr id="7" name="Picture 6" descr="A graph showing a value&#10;&#10;AI-generated content may be incorrect.">
            <a:extLst>
              <a:ext uri="{FF2B5EF4-FFF2-40B4-BE49-F238E27FC236}">
                <a16:creationId xmlns:a16="http://schemas.microsoft.com/office/drawing/2014/main" id="{20073B65-C7C4-AAEC-2A57-CEA49875FF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20" b="-1"/>
          <a:stretch>
            <a:fillRect/>
          </a:stretch>
        </p:blipFill>
        <p:spPr>
          <a:xfrm>
            <a:off x="3373527" y="1340358"/>
            <a:ext cx="2641791" cy="38296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3A0D-0390-920B-FDE3-27D30BFCB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36" y="1548498"/>
            <a:ext cx="5330952" cy="3767328"/>
          </a:xfrm>
        </p:spPr>
        <p:txBody>
          <a:bodyPr>
            <a:normAutofit/>
          </a:bodyPr>
          <a:lstStyle/>
          <a:p>
            <a:r>
              <a:rPr lang="en-US" dirty="0"/>
              <a:t>Target caloric </a:t>
            </a:r>
            <a:r>
              <a:rPr lang="en-US" dirty="0" err="1"/>
              <a:t>atins</a:t>
            </a:r>
            <a:endParaRPr lang="en-US" dirty="0"/>
          </a:p>
          <a:p>
            <a:r>
              <a:rPr lang="en-US" dirty="0"/>
              <a:t>Pret(1.0) = 9.33 lei</a:t>
            </a:r>
          </a:p>
          <a:p>
            <a:pPr lvl="1"/>
            <a:r>
              <a:rPr lang="en-US" dirty="0" err="1"/>
              <a:t>Orez</a:t>
            </a:r>
            <a:r>
              <a:rPr lang="en-US" dirty="0"/>
              <a:t> </a:t>
            </a:r>
            <a:r>
              <a:rPr lang="en-US" dirty="0" err="1"/>
              <a:t>brun</a:t>
            </a:r>
            <a:r>
              <a:rPr lang="en-US" dirty="0"/>
              <a:t> = 1050 g</a:t>
            </a:r>
          </a:p>
          <a:p>
            <a:pPr lvl="1"/>
            <a:r>
              <a:rPr lang="en-US" dirty="0"/>
              <a:t>Carne vita = 15 g</a:t>
            </a:r>
          </a:p>
          <a:p>
            <a:r>
              <a:rPr lang="en-US" dirty="0"/>
              <a:t>Pret(0.1) = 13.95 lei</a:t>
            </a:r>
          </a:p>
          <a:p>
            <a:pPr lvl="1"/>
            <a:r>
              <a:rPr lang="en-US" dirty="0" err="1"/>
              <a:t>Orez</a:t>
            </a:r>
            <a:r>
              <a:rPr lang="en-US" dirty="0"/>
              <a:t> </a:t>
            </a:r>
            <a:r>
              <a:rPr lang="en-US" dirty="0" err="1"/>
              <a:t>brun</a:t>
            </a:r>
            <a:r>
              <a:rPr lang="en-US" dirty="0"/>
              <a:t> = 435 g</a:t>
            </a:r>
          </a:p>
          <a:p>
            <a:pPr lvl="1"/>
            <a:r>
              <a:rPr lang="en-US" dirty="0"/>
              <a:t>Carne vita = 284 g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50401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BE8C6-651D-F8F4-0C61-71A864F86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9" y="976160"/>
            <a:ext cx="4454725" cy="52542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8FE0E-8A68-A45D-7553-957E1237F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8953" y="1366399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Target caloric = 2400</a:t>
            </a:r>
          </a:p>
          <a:p>
            <a:r>
              <a:rPr lang="it-IT" dirty="0"/>
              <a:t>Orez_brun=1458 g</a:t>
            </a:r>
          </a:p>
          <a:p>
            <a:r>
              <a:rPr lang="it-IT" dirty="0"/>
              <a:t>Carne vita=312 g</a:t>
            </a:r>
          </a:p>
          <a:p>
            <a:r>
              <a:rPr lang="it-IT" dirty="0"/>
              <a:t>Pret = 24.06 lei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89348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7F7CE-E9E9-EF55-C1DD-346920C5E6D9}"/>
              </a:ext>
            </a:extLst>
          </p:cNvPr>
          <p:cNvSpPr txBox="1"/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Calciu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6C8F56F-DFA1-4C0D-A403-803478FC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 descr="A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0A8C1FFF-3273-E4F8-E06D-12BF88EDF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94" y="2578608"/>
            <a:ext cx="2413632" cy="3771301"/>
          </a:xfrm>
          <a:prstGeom prst="rect">
            <a:avLst/>
          </a:prstGeom>
        </p:spPr>
      </p:pic>
      <p:pic>
        <p:nvPicPr>
          <p:cNvPr id="6" name="Picture 5" descr="A graph with blue squares&#10;&#10;AI-generated content may be incorrect.">
            <a:extLst>
              <a:ext uri="{FF2B5EF4-FFF2-40B4-BE49-F238E27FC236}">
                <a16:creationId xmlns:a16="http://schemas.microsoft.com/office/drawing/2014/main" id="{C13897BC-9EC8-CFFC-F5CD-3F193AB1E4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98" r="2" b="2"/>
          <a:stretch>
            <a:fillRect/>
          </a:stretch>
        </p:blipFill>
        <p:spPr>
          <a:xfrm>
            <a:off x="3610620" y="2578608"/>
            <a:ext cx="2727369" cy="37713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6EDABD-8C82-7FFF-A0FA-19ABAC8E42DD}"/>
              </a:ext>
            </a:extLst>
          </p:cNvPr>
          <p:cNvSpPr txBox="1"/>
          <p:nvPr/>
        </p:nvSpPr>
        <p:spPr>
          <a:xfrm>
            <a:off x="6702552" y="2578608"/>
            <a:ext cx="49651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Orez</a:t>
            </a:r>
            <a:r>
              <a:rPr lang="en-US" dirty="0"/>
              <a:t> </a:t>
            </a:r>
            <a:r>
              <a:rPr lang="en-US"/>
              <a:t>brun</a:t>
            </a:r>
            <a:r>
              <a:rPr lang="en-US" dirty="0"/>
              <a:t> = 700 g</a:t>
            </a:r>
            <a:endParaRPr lang="en-US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Carne vita  = 169 g </a:t>
            </a:r>
            <a:endParaRPr lang="en-US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Pret = 12.22 lei</a:t>
            </a:r>
            <a:endParaRPr lang="en-US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Ca = 100 mg / 1000mg -&gt; target </a:t>
            </a:r>
            <a:r>
              <a:rPr lang="en-US"/>
              <a:t>ratat</a:t>
            </a:r>
            <a:r>
              <a:rPr lang="en-US" dirty="0"/>
              <a:t> </a:t>
            </a:r>
            <a:r>
              <a:rPr lang="en-US"/>
              <a:t>datorita</a:t>
            </a:r>
            <a:r>
              <a:rPr lang="en-US" dirty="0"/>
              <a:t> </a:t>
            </a:r>
            <a:r>
              <a:rPr lang="en-US"/>
              <a:t>faptului</a:t>
            </a:r>
            <a:r>
              <a:rPr lang="en-US" dirty="0"/>
              <a:t> ca </a:t>
            </a:r>
            <a:r>
              <a:rPr lang="en-US"/>
              <a:t>Orez</a:t>
            </a:r>
            <a:r>
              <a:rPr lang="en-US" dirty="0"/>
              <a:t> </a:t>
            </a:r>
            <a:r>
              <a:rPr lang="en-US"/>
              <a:t>brun</a:t>
            </a:r>
            <a:r>
              <a:rPr lang="en-US" dirty="0"/>
              <a:t>(Ca) = 10mg </a:t>
            </a:r>
            <a:r>
              <a:rPr lang="en-US"/>
              <a:t>si</a:t>
            </a:r>
            <a:r>
              <a:rPr lang="en-US" dirty="0"/>
              <a:t> Carne vita(Ca) = 18 mg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81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60919-992F-67C8-C96B-5A9478958789}"/>
              </a:ext>
            </a:extLst>
          </p:cNvPr>
          <p:cNvSpPr txBox="1"/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Potasiu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6C8F56F-DFA1-4C0D-A403-803478FC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A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DBA5F49C-7D7A-7806-6D77-48EAB0AF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95" y="2578608"/>
            <a:ext cx="2479630" cy="3771301"/>
          </a:xfrm>
          <a:prstGeom prst="rect">
            <a:avLst/>
          </a:prstGeom>
        </p:spPr>
      </p:pic>
      <p:pic>
        <p:nvPicPr>
          <p:cNvPr id="6" name="Picture 5" descr="A graph showing a number of blue bars&#10;&#10;AI-generated content may be incorrect.">
            <a:extLst>
              <a:ext uri="{FF2B5EF4-FFF2-40B4-BE49-F238E27FC236}">
                <a16:creationId xmlns:a16="http://schemas.microsoft.com/office/drawing/2014/main" id="{42FD0297-C71C-C40E-1CEB-86B4A76C9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350" y="2578608"/>
            <a:ext cx="2705908" cy="37713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BFE36F-C126-0A61-F97A-40B08097C8C2}"/>
              </a:ext>
            </a:extLst>
          </p:cNvPr>
          <p:cNvSpPr txBox="1"/>
          <p:nvPr/>
        </p:nvSpPr>
        <p:spPr>
          <a:xfrm>
            <a:off x="6702552" y="2578608"/>
            <a:ext cx="49651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Orez_brun</a:t>
            </a:r>
            <a:r>
              <a:rPr lang="en-US" dirty="0"/>
              <a:t>=419 g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Carne_vita</a:t>
            </a:r>
            <a:r>
              <a:rPr lang="en-US" dirty="0"/>
              <a:t>=293 g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Pret = 14.05 lei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 = 1265 mg / 3400 mg, target </a:t>
            </a:r>
            <a:r>
              <a:rPr lang="en-US" dirty="0" err="1"/>
              <a:t>ratat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593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13F9BA-BF6E-43DD-A3C0-402BE6A60C8D}"/>
              </a:ext>
            </a:extLst>
          </p:cNvPr>
          <p:cNvSpPr txBox="1"/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Vitamina B6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C8F56F-DFA1-4C0D-A403-803478FC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FB228662-09BB-F998-67C1-BE413F531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98" y="2578608"/>
            <a:ext cx="2611625" cy="3771301"/>
          </a:xfrm>
          <a:prstGeom prst="rect">
            <a:avLst/>
          </a:prstGeom>
        </p:spPr>
      </p:pic>
      <p:pic>
        <p:nvPicPr>
          <p:cNvPr id="5" name="Picture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7D0AA58A-4A8F-F9C0-4535-D3FB0E2C1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2578608"/>
            <a:ext cx="2852485" cy="34367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D27E28-BCDE-B3D4-7FE1-520C908FEA7C}"/>
              </a:ext>
            </a:extLst>
          </p:cNvPr>
          <p:cNvSpPr txBox="1"/>
          <p:nvPr/>
        </p:nvSpPr>
        <p:spPr>
          <a:xfrm>
            <a:off x="6702552" y="2578608"/>
            <a:ext cx="49651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Orez_brun</a:t>
            </a:r>
            <a:r>
              <a:rPr lang="en-US" dirty="0"/>
              <a:t>=901 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Carne_vita</a:t>
            </a:r>
            <a:r>
              <a:rPr lang="en-US" dirty="0"/>
              <a:t>=79 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Pret=10.90 lei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B6 = 1.299 / 1.3 , target </a:t>
            </a:r>
            <a:r>
              <a:rPr lang="en-US" dirty="0" err="1"/>
              <a:t>atins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029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78B84-37F7-C499-DE37-5A029FD692C7}"/>
              </a:ext>
            </a:extLst>
          </p:cNvPr>
          <p:cNvSpPr txBox="1"/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Vitamina C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C8F56F-DFA1-4C0D-A403-803478FC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ECC21A60-34DB-1B15-DA30-E9EA1D8E8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08" y="2441448"/>
            <a:ext cx="2177926" cy="3771301"/>
          </a:xfrm>
          <a:prstGeom prst="rect">
            <a:avLst/>
          </a:prstGeom>
        </p:spPr>
      </p:pic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FE24C018-5FF8-E7B6-FBAC-ED703CC86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98" y="2530902"/>
            <a:ext cx="2734193" cy="37713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C1BA72-AAA9-5346-565B-C19EA283243C}"/>
              </a:ext>
            </a:extLst>
          </p:cNvPr>
          <p:cNvSpPr txBox="1"/>
          <p:nvPr/>
        </p:nvSpPr>
        <p:spPr>
          <a:xfrm>
            <a:off x="6702552" y="2578608"/>
            <a:ext cx="49651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Orez_brun</a:t>
            </a:r>
            <a:r>
              <a:rPr lang="en-US" dirty="0"/>
              <a:t>=531 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Carne_vita</a:t>
            </a:r>
            <a:r>
              <a:rPr lang="en-US" dirty="0"/>
              <a:t>=244 g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Pret = 13.32 lei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Vitamina</a:t>
            </a:r>
            <a:r>
              <a:rPr lang="en-US" dirty="0"/>
              <a:t> C = 0 / 90 mg, target </a:t>
            </a:r>
            <a:r>
              <a:rPr lang="en-US" dirty="0" err="1"/>
              <a:t>ratat</a:t>
            </a:r>
            <a:r>
              <a:rPr lang="en-US" dirty="0"/>
              <a:t> ,</a:t>
            </a:r>
            <a:r>
              <a:rPr lang="en-US" dirty="0" err="1"/>
              <a:t>orezul</a:t>
            </a:r>
            <a:r>
              <a:rPr lang="en-US" dirty="0"/>
              <a:t> </a:t>
            </a:r>
            <a:r>
              <a:rPr lang="en-US" dirty="0" err="1"/>
              <a:t>brun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carnea</a:t>
            </a:r>
            <a:r>
              <a:rPr lang="en-US" dirty="0"/>
              <a:t> de vita </a:t>
            </a:r>
            <a:r>
              <a:rPr lang="en-US" dirty="0" err="1"/>
              <a:t>contin</a:t>
            </a:r>
            <a:r>
              <a:rPr lang="en-US" dirty="0"/>
              <a:t> </a:t>
            </a:r>
            <a:r>
              <a:rPr lang="en-US" dirty="0" err="1"/>
              <a:t>cantitati</a:t>
            </a:r>
            <a:r>
              <a:rPr lang="en-US" dirty="0"/>
              <a:t> </a:t>
            </a:r>
            <a:r>
              <a:rPr lang="en-US" dirty="0" err="1"/>
              <a:t>realtive</a:t>
            </a:r>
            <a:r>
              <a:rPr lang="en-US" dirty="0"/>
              <a:t> cu 0 </a:t>
            </a:r>
          </a:p>
        </p:txBody>
      </p:sp>
    </p:spTree>
    <p:extLst>
      <p:ext uri="{BB962C8B-B14F-4D97-AF65-F5344CB8AC3E}">
        <p14:creationId xmlns:p14="http://schemas.microsoft.com/office/powerpoint/2010/main" val="953157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46CC4A-BC53-0CE1-5B9F-AA097060862A}"/>
              </a:ext>
            </a:extLst>
          </p:cNvPr>
          <p:cNvSpPr txBox="1"/>
          <p:nvPr/>
        </p:nvSpPr>
        <p:spPr>
          <a:xfrm>
            <a:off x="762339" y="887240"/>
            <a:ext cx="2960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EXEMPLU 2</a:t>
            </a:r>
            <a:endParaRPr lang="ro-RO" sz="3200" b="1" dirty="0"/>
          </a:p>
        </p:txBody>
      </p:sp>
      <p:pic>
        <p:nvPicPr>
          <p:cNvPr id="6" name="Picture 5" descr="A graph with blue squares&#10;&#10;AI-generated content may be incorrect.">
            <a:extLst>
              <a:ext uri="{FF2B5EF4-FFF2-40B4-BE49-F238E27FC236}">
                <a16:creationId xmlns:a16="http://schemas.microsoft.com/office/drawing/2014/main" id="{56447928-CBF4-9490-7539-DC5153FB2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88" y="1689298"/>
            <a:ext cx="5500812" cy="3863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A52385-9DF9-CA3C-E7CC-AAC87B962C05}"/>
              </a:ext>
            </a:extLst>
          </p:cNvPr>
          <p:cNvSpPr txBox="1"/>
          <p:nvPr/>
        </p:nvSpPr>
        <p:spPr>
          <a:xfrm>
            <a:off x="6880634" y="1810693"/>
            <a:ext cx="40016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</a:t>
            </a:r>
            <a:r>
              <a:rPr lang="ro-RO" dirty="0"/>
              <a:t>aut=147</a:t>
            </a:r>
            <a:r>
              <a:rPr lang="en-US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</a:t>
            </a:r>
            <a:r>
              <a:rPr lang="ro-RO" dirty="0"/>
              <a:t>rez_brun=340 </a:t>
            </a:r>
            <a:r>
              <a:rPr lang="en-US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ro-RO" dirty="0"/>
              <a:t>arne_vita=80</a:t>
            </a:r>
            <a:r>
              <a:rPr lang="en-US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ro-RO" dirty="0"/>
              <a:t>omon=3</a:t>
            </a:r>
            <a:r>
              <a:rPr lang="en-US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</a:t>
            </a:r>
            <a:r>
              <a:rPr lang="ro-RO" dirty="0"/>
              <a:t>ua=140</a:t>
            </a:r>
            <a:r>
              <a:rPr lang="en-US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ro-RO" dirty="0"/>
              <a:t>rdei_copt=5</a:t>
            </a:r>
            <a:r>
              <a:rPr lang="en-US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</a:t>
            </a:r>
            <a:r>
              <a:rPr lang="ro-RO" dirty="0"/>
              <a:t>asline_verzi=116</a:t>
            </a:r>
            <a:r>
              <a:rPr lang="en-US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Pret= 13.19 lei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caloric </a:t>
            </a:r>
            <a:r>
              <a:rPr lang="en-US" dirty="0" err="1"/>
              <a:t>atins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52949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AF430C20-A4B3-B97F-09BE-16BF85ED2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39" y="3856238"/>
            <a:ext cx="5210761" cy="2839303"/>
          </a:xfrm>
          <a:prstGeom prst="rect">
            <a:avLst/>
          </a:prstGeom>
        </p:spPr>
      </p:pic>
      <p:pic>
        <p:nvPicPr>
          <p:cNvPr id="9" name="Picture 8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26B82BA9-BC8B-577B-CA98-F27FE4713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9" y="782166"/>
            <a:ext cx="5210761" cy="28757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81D954-DB83-43C3-B075-F482248EA25F}"/>
              </a:ext>
            </a:extLst>
          </p:cNvPr>
          <p:cNvSpPr txBox="1"/>
          <p:nvPr/>
        </p:nvSpPr>
        <p:spPr>
          <a:xfrm>
            <a:off x="6853474" y="1118715"/>
            <a:ext cx="315060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caloric </a:t>
            </a:r>
            <a:r>
              <a:rPr lang="en-US" dirty="0" err="1"/>
              <a:t>atins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Pret(0.1)=18.06 lei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naut=131g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orez_brun</a:t>
            </a:r>
            <a:r>
              <a:rPr lang="en-US" dirty="0"/>
              <a:t>=145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carne_vita</a:t>
            </a:r>
            <a:r>
              <a:rPr lang="en-US" dirty="0"/>
              <a:t>=133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somon</a:t>
            </a:r>
            <a:r>
              <a:rPr lang="en-US" dirty="0"/>
              <a:t>=21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oua</a:t>
            </a:r>
            <a:r>
              <a:rPr lang="en-US" dirty="0"/>
              <a:t>=123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ardei_copt</a:t>
            </a:r>
            <a:r>
              <a:rPr lang="en-US" dirty="0"/>
              <a:t>=126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masline_verzi</a:t>
            </a:r>
            <a:r>
              <a:rPr lang="en-US" dirty="0"/>
              <a:t>=156 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Pret(1.0) = 10.82 lei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naut=207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orez_brun</a:t>
            </a:r>
            <a:r>
              <a:rPr lang="en-US" dirty="0"/>
              <a:t>=420.0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carne_vita</a:t>
            </a:r>
            <a:r>
              <a:rPr lang="en-US" dirty="0"/>
              <a:t>=38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somon</a:t>
            </a:r>
            <a:r>
              <a:rPr lang="en-US" dirty="0"/>
              <a:t>=11g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oua</a:t>
            </a:r>
            <a:r>
              <a:rPr lang="en-US" dirty="0"/>
              <a:t>=183g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ardei_copt</a:t>
            </a:r>
            <a:r>
              <a:rPr lang="en-US" dirty="0"/>
              <a:t>=0 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masline_verzi</a:t>
            </a:r>
            <a:r>
              <a:rPr lang="en-US" dirty="0"/>
              <a:t>=7 g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28875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0CDE386B-3616-EEC0-ECC6-E58406864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5" y="1246935"/>
            <a:ext cx="6920510" cy="4865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548C4C-FBBC-57AF-8B1A-E5F20D99B837}"/>
              </a:ext>
            </a:extLst>
          </p:cNvPr>
          <p:cNvSpPr txBox="1"/>
          <p:nvPr/>
        </p:nvSpPr>
        <p:spPr>
          <a:xfrm>
            <a:off x="7878024" y="1371182"/>
            <a:ext cx="290515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</a:t>
            </a:r>
            <a:r>
              <a:rPr lang="en-US" dirty="0" err="1"/>
              <a:t>calori</a:t>
            </a:r>
            <a:r>
              <a:rPr lang="en-US" dirty="0"/>
              <a:t> =2400 </a:t>
            </a:r>
            <a:r>
              <a:rPr lang="en-US" dirty="0" err="1"/>
              <a:t>atins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naut=541</a:t>
            </a:r>
            <a:r>
              <a:rPr lang="en-US" dirty="0"/>
              <a:t> g</a:t>
            </a:r>
            <a:r>
              <a:rPr lang="ro-RO" dirty="0"/>
              <a:t>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orez_brun=780</a:t>
            </a:r>
            <a:r>
              <a:rPr lang="en-US" dirty="0"/>
              <a:t>g</a:t>
            </a:r>
            <a:r>
              <a:rPr lang="ro-RO" dirty="0"/>
              <a:t>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carne_vita=7</a:t>
            </a:r>
            <a:r>
              <a:rPr lang="en-US" dirty="0"/>
              <a:t>g</a:t>
            </a:r>
            <a:r>
              <a:rPr lang="ro-RO" dirty="0"/>
              <a:t>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somon=0.0</a:t>
            </a:r>
            <a:r>
              <a:rPr lang="en-US" dirty="0"/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oua=429</a:t>
            </a:r>
            <a:r>
              <a:rPr lang="en-US" dirty="0"/>
              <a:t> 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ardei_copt=0.0</a:t>
            </a:r>
            <a:r>
              <a:rPr lang="en-US" dirty="0"/>
              <a:t> g</a:t>
            </a:r>
            <a:r>
              <a:rPr lang="ro-RO" dirty="0"/>
              <a:t>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masline_verzi=8.0</a:t>
            </a:r>
            <a:r>
              <a:rPr lang="en-US" dirty="0"/>
              <a:t> 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Pret = 19.20 lei</a:t>
            </a:r>
            <a:endParaRPr lang="ro-R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55C6A-17C1-1B46-99D5-99344D1BDA6A}"/>
              </a:ext>
            </a:extLst>
          </p:cNvPr>
          <p:cNvSpPr txBox="1"/>
          <p:nvPr/>
        </p:nvSpPr>
        <p:spPr>
          <a:xfrm>
            <a:off x="7878024" y="3947451"/>
            <a:ext cx="34765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Observatie</a:t>
            </a:r>
            <a:r>
              <a:rPr lang="en-US" dirty="0"/>
              <a:t>! </a:t>
            </a:r>
          </a:p>
          <a:p>
            <a:pPr algn="just"/>
            <a:r>
              <a:rPr lang="en-US" dirty="0"/>
              <a:t>     Desi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impunerea</a:t>
            </a:r>
            <a:r>
              <a:rPr lang="en-US" dirty="0"/>
              <a:t> </a:t>
            </a:r>
            <a:r>
              <a:rPr lang="en-US" dirty="0" err="1"/>
              <a:t>regulilor</a:t>
            </a:r>
            <a:r>
              <a:rPr lang="en-US" dirty="0"/>
              <a:t> de </a:t>
            </a:r>
            <a:r>
              <a:rPr lang="en-US" dirty="0" err="1"/>
              <a:t>echilibru</a:t>
            </a:r>
            <a:r>
              <a:rPr lang="en-US" dirty="0"/>
              <a:t>, </a:t>
            </a:r>
            <a:r>
              <a:rPr lang="en-US" dirty="0" err="1"/>
              <a:t>datorita</a:t>
            </a:r>
            <a:r>
              <a:rPr lang="en-US" dirty="0"/>
              <a:t> </a:t>
            </a:r>
            <a:r>
              <a:rPr lang="en-US" dirty="0" err="1"/>
              <a:t>dublarii</a:t>
            </a:r>
            <a:r>
              <a:rPr lang="en-US" dirty="0"/>
              <a:t> </a:t>
            </a:r>
            <a:r>
              <a:rPr lang="en-US" dirty="0" err="1"/>
              <a:t>targetului</a:t>
            </a:r>
            <a:r>
              <a:rPr lang="en-US" dirty="0"/>
              <a:t> caloric,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bugetul</a:t>
            </a:r>
            <a:r>
              <a:rPr lang="en-US" dirty="0"/>
              <a:t> </a:t>
            </a:r>
            <a:r>
              <a:rPr lang="en-US" dirty="0" err="1"/>
              <a:t>ramanad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,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produse</a:t>
            </a:r>
            <a:r>
              <a:rPr lang="en-US" dirty="0"/>
              <a:t> sunt in final eliminate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55368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6669D-53A7-377A-49D3-FDDCA783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D68BD8F-A7CB-08AC-620B-E0FE54A2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0CB6B-C35A-62BE-50A7-84AFD25714D0}"/>
              </a:ext>
            </a:extLst>
          </p:cNvPr>
          <p:cNvSpPr txBox="1"/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Calciu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BA2B5CE-D539-B1D4-1108-99666B528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A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2E1ED16C-7812-3B1A-F65F-3A0BA4A89A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4" r="5" b="2668"/>
          <a:stretch>
            <a:fillRect/>
          </a:stretch>
        </p:blipFill>
        <p:spPr>
          <a:xfrm>
            <a:off x="517870" y="2578455"/>
            <a:ext cx="2641791" cy="3826001"/>
          </a:xfrm>
          <a:prstGeom prst="rect">
            <a:avLst/>
          </a:prstGeom>
        </p:spPr>
      </p:pic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6EA68949-8B3A-2B2E-25E6-9E06755FA0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50" r="23991" b="2"/>
          <a:stretch>
            <a:fillRect/>
          </a:stretch>
        </p:blipFill>
        <p:spPr>
          <a:xfrm>
            <a:off x="3373527" y="2578608"/>
            <a:ext cx="2855823" cy="3829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1878EE-FF38-96F8-8159-FAC5FD57D068}"/>
              </a:ext>
            </a:extLst>
          </p:cNvPr>
          <p:cNvSpPr txBox="1"/>
          <p:nvPr/>
        </p:nvSpPr>
        <p:spPr>
          <a:xfrm>
            <a:off x="6336792" y="2578608"/>
            <a:ext cx="533095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Target caloric </a:t>
            </a:r>
            <a:r>
              <a:rPr lang="en-US" dirty="0" err="1"/>
              <a:t>atins</a:t>
            </a:r>
            <a:endParaRPr lang="en-US" dirty="0"/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naut=135g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orez_brun</a:t>
            </a:r>
            <a:r>
              <a:rPr lang="en-US" dirty="0"/>
              <a:t>=18g 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carne_vita</a:t>
            </a:r>
            <a:r>
              <a:rPr lang="en-US" dirty="0"/>
              <a:t>=33g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somon</a:t>
            </a:r>
            <a:r>
              <a:rPr lang="en-US" dirty="0"/>
              <a:t>=0g 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oua</a:t>
            </a:r>
            <a:r>
              <a:rPr lang="en-US" dirty="0"/>
              <a:t>=540g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ardei_copt</a:t>
            </a:r>
            <a:r>
              <a:rPr lang="en-US" dirty="0"/>
              <a:t>=44g 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masline_verzi</a:t>
            </a:r>
            <a:r>
              <a:rPr lang="en-US" dirty="0"/>
              <a:t>=58g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Pret = 12.25 lei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Calciu</a:t>
            </a:r>
            <a:r>
              <a:rPr lang="en-US" dirty="0"/>
              <a:t>= 411 mg /1000 mg , target </a:t>
            </a:r>
            <a:r>
              <a:rPr lang="en-US" dirty="0" err="1"/>
              <a:t>ratat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41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E15FA-9E49-BDCE-3A95-A12DEA12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35B48-C8E8-6EF8-3FA4-96BD4E8B9190}"/>
              </a:ext>
            </a:extLst>
          </p:cNvPr>
          <p:cNvSpPr txBox="1"/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Potasiu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6C8F56F-DFA1-4C0D-A403-803478FC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D59AA1EB-ABEA-CFCC-2D6B-438828413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98" y="2578608"/>
            <a:ext cx="2611625" cy="3771301"/>
          </a:xfrm>
          <a:prstGeom prst="rect">
            <a:avLst/>
          </a:prstGeom>
        </p:spPr>
      </p:pic>
      <p:pic>
        <p:nvPicPr>
          <p:cNvPr id="3" name="Picture 2" descr="A graph with blue squares&#10;&#10;AI-generated content may be incorrect.">
            <a:extLst>
              <a:ext uri="{FF2B5EF4-FFF2-40B4-BE49-F238E27FC236}">
                <a16:creationId xmlns:a16="http://schemas.microsoft.com/office/drawing/2014/main" id="{4B147DB7-7EDA-F9EF-CBA6-2E13B3E4D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2578608"/>
            <a:ext cx="4223502" cy="29458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13F61B-BDF0-C884-4E0D-1E747AED4F9D}"/>
              </a:ext>
            </a:extLst>
          </p:cNvPr>
          <p:cNvSpPr txBox="1"/>
          <p:nvPr/>
        </p:nvSpPr>
        <p:spPr>
          <a:xfrm>
            <a:off x="7959852" y="2683383"/>
            <a:ext cx="49651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Target caloric </a:t>
            </a:r>
            <a:r>
              <a:rPr lang="en-US" dirty="0" err="1"/>
              <a:t>atins</a:t>
            </a:r>
            <a:endParaRPr lang="en-US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naut=266g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orez_brun</a:t>
            </a:r>
            <a:r>
              <a:rPr lang="en-US" dirty="0"/>
              <a:t>=29g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carne_vita</a:t>
            </a:r>
            <a:r>
              <a:rPr lang="en-US" dirty="0"/>
              <a:t>=17g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somon</a:t>
            </a:r>
            <a:r>
              <a:rPr lang="en-US" dirty="0"/>
              <a:t>=4g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oua</a:t>
            </a:r>
            <a:r>
              <a:rPr lang="en-US" dirty="0"/>
              <a:t>=249g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ardei_copt</a:t>
            </a:r>
            <a:r>
              <a:rPr lang="en-US" dirty="0"/>
              <a:t>=1033g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masline_verzi</a:t>
            </a:r>
            <a:r>
              <a:rPr lang="en-US" dirty="0"/>
              <a:t>=0.0 g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Pret = 30 lei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Potasiu</a:t>
            </a:r>
            <a:r>
              <a:rPr lang="en-US" dirty="0"/>
              <a:t> = 3400/3400 , target </a:t>
            </a:r>
            <a:r>
              <a:rPr lang="en-US" dirty="0" err="1"/>
              <a:t>atins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15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64AFF-1D57-AE96-5920-86FABBE7B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CF8DFE-4C79-945F-96CE-C23F3CEDA343}"/>
              </a:ext>
            </a:extLst>
          </p:cNvPr>
          <p:cNvSpPr txBox="1"/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Vitamina B6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6C8F56F-DFA1-4C0D-A403-803478FC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1D3282C9-1EA5-38C0-4262-A93B38EE0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95" y="1972026"/>
            <a:ext cx="2545628" cy="3771301"/>
          </a:xfrm>
          <a:prstGeom prst="rect">
            <a:avLst/>
          </a:prstGeom>
        </p:spPr>
      </p:pic>
      <p:pic>
        <p:nvPicPr>
          <p:cNvPr id="3" name="Picture 2" descr="A graph with blue rectangular bars&#10;&#10;AI-generated content may be incorrect.">
            <a:extLst>
              <a:ext uri="{FF2B5EF4-FFF2-40B4-BE49-F238E27FC236}">
                <a16:creationId xmlns:a16="http://schemas.microsoft.com/office/drawing/2014/main" id="{0B55A6D8-FA21-131A-7BF9-E57A6485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994" y="1972026"/>
            <a:ext cx="4156437" cy="32125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CC11D5-0ACB-C6EC-D478-B6FBA65FF9F7}"/>
              </a:ext>
            </a:extLst>
          </p:cNvPr>
          <p:cNvSpPr txBox="1"/>
          <p:nvPr/>
        </p:nvSpPr>
        <p:spPr>
          <a:xfrm>
            <a:off x="8223832" y="1975999"/>
            <a:ext cx="3661591" cy="37673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Target caloric </a:t>
            </a:r>
            <a:r>
              <a:rPr lang="en-US" dirty="0" err="1"/>
              <a:t>atins</a:t>
            </a:r>
            <a:endParaRPr lang="en-US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naut=195 g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orez_brun</a:t>
            </a:r>
            <a:r>
              <a:rPr lang="en-US" dirty="0"/>
              <a:t>=115g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carne_vita</a:t>
            </a:r>
            <a:r>
              <a:rPr lang="en-US" dirty="0"/>
              <a:t>=67g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somon</a:t>
            </a:r>
            <a:r>
              <a:rPr lang="en-US" dirty="0"/>
              <a:t>=3g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oua</a:t>
            </a:r>
            <a:r>
              <a:rPr lang="en-US" dirty="0"/>
              <a:t>=309g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ardei_copt</a:t>
            </a:r>
            <a:r>
              <a:rPr lang="en-US" dirty="0"/>
              <a:t>=158g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masline_verzi</a:t>
            </a:r>
            <a:r>
              <a:rPr lang="en-US" dirty="0"/>
              <a:t>=57g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Pret = 14.99 lei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Vitamina</a:t>
            </a:r>
            <a:r>
              <a:rPr lang="en-US" dirty="0"/>
              <a:t> B6 = 1.3 mg/ 1.3 mg , target </a:t>
            </a:r>
            <a:r>
              <a:rPr lang="en-US" dirty="0" err="1"/>
              <a:t>atins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761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A4F6A-51FB-27CA-4FCC-9C3E5AE1D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AC7D6-C1B3-6BC7-64D5-F83F5548E276}"/>
              </a:ext>
            </a:extLst>
          </p:cNvPr>
          <p:cNvSpPr txBox="1"/>
          <p:nvPr/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Vitamina C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6C8F56F-DFA1-4C0D-A403-803478FC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A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295ADF22-259F-DD4F-9EFB-9FA124B52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5" y="1842439"/>
            <a:ext cx="2677623" cy="3771301"/>
          </a:xfrm>
          <a:prstGeom prst="rect">
            <a:avLst/>
          </a:prstGeom>
        </p:spPr>
      </p:pic>
      <p:pic>
        <p:nvPicPr>
          <p:cNvPr id="3" name="Picture 2" descr="A graph of blue bars&#10;&#10;AI-generated content may be incorrect.">
            <a:extLst>
              <a:ext uri="{FF2B5EF4-FFF2-40B4-BE49-F238E27FC236}">
                <a16:creationId xmlns:a16="http://schemas.microsoft.com/office/drawing/2014/main" id="{4E7342D3-729A-0D8C-B172-BB2E1EE85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1842439"/>
            <a:ext cx="4947265" cy="34507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4AE5EB-623E-397B-A846-09C18BF2346E}"/>
              </a:ext>
            </a:extLst>
          </p:cNvPr>
          <p:cNvSpPr txBox="1"/>
          <p:nvPr/>
        </p:nvSpPr>
        <p:spPr>
          <a:xfrm>
            <a:off x="8504471" y="1874018"/>
            <a:ext cx="3175465" cy="37673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Target caloric </a:t>
            </a:r>
            <a:r>
              <a:rPr lang="en-US" dirty="0" err="1"/>
              <a:t>atins</a:t>
            </a:r>
            <a:endParaRPr lang="en-US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naut=159g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orez_brun</a:t>
            </a:r>
            <a:r>
              <a:rPr lang="en-US" dirty="0"/>
              <a:t>=186g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carne_vita</a:t>
            </a:r>
            <a:r>
              <a:rPr lang="en-US" dirty="0"/>
              <a:t>=113g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somon</a:t>
            </a:r>
            <a:r>
              <a:rPr lang="en-US" dirty="0"/>
              <a:t>=0 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oua</a:t>
            </a:r>
            <a:r>
              <a:rPr lang="en-US" dirty="0"/>
              <a:t>=179g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ardei_copt</a:t>
            </a:r>
            <a:r>
              <a:rPr lang="en-US" dirty="0"/>
              <a:t>=108g 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masline_verzi</a:t>
            </a:r>
            <a:r>
              <a:rPr lang="en-US" dirty="0"/>
              <a:t>=107g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Pret = 15.37 lei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Vitamina</a:t>
            </a:r>
            <a:r>
              <a:rPr lang="en-US" dirty="0"/>
              <a:t> C = 90mg /90mg , target </a:t>
            </a:r>
            <a:r>
              <a:rPr lang="en-US" dirty="0" err="1"/>
              <a:t>atins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713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4846F-105A-D548-BDCA-14BE027E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/>
              <a:t>LA REVEDERE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2093</Words>
  <Application>Microsoft Office PowerPoint</Application>
  <PresentationFormat>Widescreen</PresentationFormat>
  <Paragraphs>238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Bierstadt</vt:lpstr>
      <vt:lpstr>GestaltVTI</vt:lpstr>
      <vt:lpstr> Generarea automată a unui meniu alimentar optimizat folosind algoritmi genetici </vt:lpstr>
      <vt:lpstr>INTRODUCERE</vt:lpstr>
      <vt:lpstr>SCOPURI</vt:lpstr>
      <vt:lpstr>CE SUNT ALGORITMI GENETICI</vt:lpstr>
      <vt:lpstr>ALEMENTE DE BAZA ALE A.G</vt:lpstr>
      <vt:lpstr>INFORMATI ALIMENTARE DE BAZA</vt:lpstr>
      <vt:lpstr>STABILIREA GENOTIPULUI</vt:lpstr>
      <vt:lpstr>STABILIREA CROMOZOMULUI</vt:lpstr>
      <vt:lpstr>REGULUI DE CAUTARE</vt:lpstr>
      <vt:lpstr>PowerPoint Presentation</vt:lpstr>
      <vt:lpstr>PowerPoint Presentation</vt:lpstr>
      <vt:lpstr>Interfata vizuala GUI Swing</vt:lpstr>
      <vt:lpstr>Clasa JsonTree</vt:lpstr>
      <vt:lpstr>Clasa MyForm</vt:lpstr>
      <vt:lpstr>Clasa FitnessMeniu</vt:lpstr>
      <vt:lpstr>Rezultate generate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 REVEDERE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89</dc:creator>
  <cp:lastModifiedBy>Ana 89</cp:lastModifiedBy>
  <cp:revision>3</cp:revision>
  <dcterms:created xsi:type="dcterms:W3CDTF">2025-12-27T15:15:05Z</dcterms:created>
  <dcterms:modified xsi:type="dcterms:W3CDTF">2025-12-28T11:44:07Z</dcterms:modified>
</cp:coreProperties>
</file>